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182880"/>
            <a:ext cx="1645920" cy="9601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E293B"/>
                </a:solidFill>
                <a:latin typeface="Liberation Sans"/>
              </a:defRPr>
            </a:pPr>
            <a:r>
              <a:t>iTantra</a:t>
            </a:r>
          </a:p>
          <a:p>
            <a:pPr algn="ctr">
              <a:defRPr b="0" sz="1050">
                <a:solidFill>
                  <a:srgbClr val="1A6FC4"/>
                </a:solidFill>
                <a:latin typeface="Liberation Sans"/>
              </a:defRPr>
            </a:pPr>
            <a:r>
              <a:t>Voice Transceiver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800">
                <a:solidFill>
                  <a:srgbClr val="0F172A"/>
                </a:solidFill>
                <a:latin typeface="Liberation Sans"/>
              </a:defRPr>
            </a:pPr>
            <a:r>
              <a:t>iTANTRA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74980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200">
                <a:solidFill>
                  <a:srgbClr val="1A6FC4"/>
                </a:solidFill>
                <a:latin typeface="Liberation Sans"/>
              </a:defRPr>
            </a:pPr>
            <a:r>
              <a:t>AI-Powered Real-Time Multilingual Neural Transceiver for Low-Bitrate Disaster &amp; Tactical Radios</a:t>
            </a:r>
          </a:p>
        </p:txBody>
      </p:sp>
      <p:pic>
        <p:nvPicPr>
          <p:cNvPr id="5" name="Picture 4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828800" cy="72189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35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Liberation Sans"/>
              </a:defRPr>
            </a:pPr>
            <a:r>
              <a:t>@SIH Idea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200">
                <a:solidFill>
                  <a:srgbClr val="FFFFFF"/>
                </a:solidFill>
                <a:latin typeface="Liberation Sans"/>
              </a:defRPr>
            </a:pPr>
            <a:r>
              <a:t>2</a:t>
            </a:r>
          </a:p>
        </p:txBody>
      </p:sp>
      <p:pic>
        <p:nvPicPr>
          <p:cNvPr id="8" name="Picture 7" descr="slide1_phone_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371600"/>
            <a:ext cx="3566160" cy="35661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1280160"/>
            <a:ext cx="2011680" cy="365760"/>
          </a:xfrm>
          <a:prstGeom prst="roundRect">
            <a:avLst/>
          </a:prstGeom>
          <a:solidFill>
            <a:srgbClr val="FFE4EB"/>
          </a:solidFill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D81B60"/>
                </a:solidFill>
                <a:latin typeface="Liberation Sans"/>
              </a:defRPr>
            </a:pPr>
            <a:r>
              <a:t>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64208"/>
            <a:ext cx="3749039" cy="1810512"/>
          </a:xfrm>
          <a:prstGeom prst="rect">
            <a:avLst/>
          </a:prstGeom>
          <a:noFill/>
        </p:spPr>
        <p:txBody>
          <a:bodyPr wrap="square" lIns="36576" rIns="36576" tIns="36576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  <a:latin typeface="Liberation Sans"/>
              </a:defRPr>
            </a:pPr>
            <a:r>
              <a:t>• Total cellular &amp; telecom network blackout during natural disasters (floods, earthquakes, cyclones).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  <a:latin typeface="Liberation Sans"/>
              </a:defRPr>
            </a:pPr>
            <a:r>
              <a:t>• Standard audio codecs (AMR/Opus: 12–64 kbps) collapse completely over narrowband radio (&lt; 1 kbps).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  <a:latin typeface="Liberation Sans"/>
              </a:defRPr>
            </a:pPr>
            <a:r>
              <a:t>• Severe RF congestion, multipath fading &amp; limited range on tactical VHF/UHF and LoRa radios.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  <a:latin typeface="Liberation Sans"/>
              </a:defRPr>
            </a:pPr>
            <a:r>
              <a:t>• Critical multilingual barrier between NDRF teams, armed forces, and local disaster victims.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11880"/>
            <a:ext cx="2011680" cy="365760"/>
          </a:xfrm>
          <a:prstGeom prst="roundRect">
            <a:avLst/>
          </a:prstGeom>
          <a:solidFill>
            <a:srgbClr val="EBF4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D4ED8"/>
                </a:solidFill>
                <a:latin typeface="Liberation Sans"/>
              </a:defRPr>
            </a:pPr>
            <a:r>
              <a:t>Proposed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95928"/>
            <a:ext cx="3749039" cy="1810512"/>
          </a:xfrm>
          <a:prstGeom prst="rect">
            <a:avLst/>
          </a:prstGeom>
          <a:noFill/>
        </p:spPr>
        <p:txBody>
          <a:bodyPr wrap="square" lIns="36576" rIns="36576" tIns="36576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  <a:latin typeface="Liberation Sans"/>
              </a:defRPr>
            </a:pPr>
            <a:r>
              <a:t>• 100% Offline Edge STT: Transcribes spoken voice into clean text tokens with zero internet dependency.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  <a:latin typeface="Liberation Sans"/>
              </a:defRPr>
            </a:pPr>
            <a:r>
              <a:t>• TantraPacket Binary Protocol: Encapsulates phonetics, priority &amp; language ID into ~40-byte radio packets.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  <a:latin typeface="Liberation Sans"/>
              </a:defRPr>
            </a:pPr>
            <a:r>
              <a:t>• Multi-Bearer Hybrid Mesh: Seamlessly transmits over LoRa (868 MHz), Bluetooth RFCOMM &amp; Wi-Fi Hotspots.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  <a:latin typeface="Liberation Sans"/>
              </a:defRPr>
            </a:pPr>
            <a:r>
              <a:t>• On-Device Neural TTS: Receiver decodes the 40-byte packet and synthesizes natural voice in real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280160"/>
            <a:ext cx="2011680" cy="365760"/>
          </a:xfrm>
          <a:prstGeom prst="roundRect">
            <a:avLst/>
          </a:prstGeom>
          <a:solidFill>
            <a:srgbClr val="E8F8E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5803D"/>
                </a:solidFill>
                <a:latin typeface="Liberation Sans"/>
              </a:defRPr>
            </a:pPr>
            <a:r>
              <a:t>Value Proposition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1664208"/>
            <a:ext cx="3749039" cy="1810512"/>
          </a:xfrm>
          <a:prstGeom prst="rect">
            <a:avLst/>
          </a:prstGeom>
          <a:noFill/>
        </p:spPr>
        <p:txBody>
          <a:bodyPr wrap="square" lIns="36576" rIns="36576" tIns="36576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  <a:latin typeface="Liberation Sans"/>
              </a:defRPr>
            </a:pPr>
            <a:r>
              <a:t>• 99.8% Bandwidth Reduction: Drops data transmission rate from 64,000 bps down to &lt; 100 bps.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  <a:latin typeface="Liberation Sans"/>
              </a:defRPr>
            </a:pPr>
            <a:r>
              <a:t>• Zero-Cloud Sovereignty: Completely autonomous — no cellular towers, satellite links, or cloud fees.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  <a:latin typeface="Liberation Sans"/>
              </a:defRPr>
            </a:pPr>
            <a:r>
              <a:t>• Cross-Lingual Translation: Real-time bridging across 10+ Indian scheduled languages.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  <a:latin typeface="Liberation Sans"/>
              </a:defRPr>
            </a:pPr>
            <a:r>
              <a:t>• COTS Hardware Ready: Plug-and-play with low-cost LoRa SX1262 modules (&lt; ₹1,200) and Android phones.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  <a:latin typeface="Liberation Sans"/>
              </a:defRPr>
            </a:pPr>
            <a:r>
              <a:t>• Instant SOS Preemption: Sub-second emergency panic broadcast with acoustic alarm override.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3611880"/>
            <a:ext cx="2011680" cy="365760"/>
          </a:xfrm>
          <a:prstGeom prst="roundRect">
            <a:avLst/>
          </a:prstGeom>
          <a:solidFill>
            <a:srgbClr val="F6EB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7E22CE"/>
                </a:solidFill>
                <a:latin typeface="Liberation Sans"/>
              </a:defRPr>
            </a:pPr>
            <a:r>
              <a:t>Key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995928"/>
            <a:ext cx="3749039" cy="1810512"/>
          </a:xfrm>
          <a:prstGeom prst="rect">
            <a:avLst/>
          </a:prstGeom>
          <a:noFill/>
        </p:spPr>
        <p:txBody>
          <a:bodyPr wrap="square" lIns="36576" rIns="36576" tIns="36576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  <a:latin typeface="Liberation Sans"/>
              </a:defRPr>
            </a:pPr>
            <a:r>
              <a:t>• Ultra-Low-Bitrate Neural Transceiver (&lt; 100 bps vs 64 kbps standard audio).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  <a:latin typeface="Liberation Sans"/>
              </a:defRPr>
            </a:pPr>
            <a:r>
              <a:t>• 3-Tier Preemptive Priority Gate (SOS Alert &gt; Tactical Directive &gt; Normal Chat).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  <a:latin typeface="Liberation Sans"/>
              </a:defRPr>
            </a:pPr>
            <a:r>
              <a:t>• 10+ Indian Languages Offline Speech Engine (Hindi, Bengali, Tamil, Telugu, Marathi, etc.).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  <a:latin typeface="Liberation Sans"/>
              </a:defRPr>
            </a:pPr>
            <a:r>
              <a:t>• Multi-Hop Ad-Hoc Mesh Routing over LoRa &amp; Bluetooth RFCOMM.</a:t>
            </a:r>
          </a:p>
          <a:p>
            <a:pPr>
              <a:spcAft>
                <a:spcPts val="250"/>
              </a:spcAft>
              <a:defRPr sz="950">
                <a:solidFill>
                  <a:srgbClr val="1E293B"/>
                </a:solidFill>
                <a:latin typeface="Liberation Sans"/>
              </a:defRPr>
            </a:pPr>
            <a:r>
              <a:t>• Cryptographic Integrity (AES-256 GCM payload encryption + CRC-32 verification).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5897880"/>
            <a:ext cx="7040880" cy="475488"/>
          </a:xfrm>
          <a:prstGeom prst="roundRect">
            <a:avLst/>
          </a:prstGeom>
          <a:solidFill>
            <a:srgbClr val="EBF4FF"/>
          </a:solidFill>
          <a:ln w="19050">
            <a:solidFill>
              <a:srgbClr val="1A6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1A6FC4"/>
                </a:solidFill>
                <a:latin typeface="Liberation Sans"/>
              </a:defRPr>
            </a:pPr>
            <a:r>
              <a:t>iTantra = Offline Voice ➔ 40-Byte Packet ➔ Multi-Hop Radio ➔ Neural Audio</a:t>
            </a:r>
          </a:p>
          <a:p>
            <a:pPr algn="ctr">
              <a:defRPr sz="950">
                <a:solidFill>
                  <a:srgbClr val="475569"/>
                </a:solidFill>
                <a:latin typeface="Liberation Sans"/>
              </a:defRPr>
            </a:pPr>
            <a:r>
              <a:t>Lifesaving voice communication when all other networks fail.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182880"/>
            <a:ext cx="1645920" cy="9601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E293B"/>
                </a:solidFill>
                <a:latin typeface="Liberation Sans"/>
              </a:defRPr>
            </a:pPr>
            <a:r>
              <a:t>iTantra</a:t>
            </a:r>
          </a:p>
          <a:p>
            <a:pPr algn="ctr">
              <a:defRPr b="0" sz="1050">
                <a:solidFill>
                  <a:srgbClr val="1A6FC4"/>
                </a:solidFill>
                <a:latin typeface="Liberation Sans"/>
              </a:defRPr>
            </a:pPr>
            <a:r>
              <a:t>Voice Transceiver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800">
                <a:solidFill>
                  <a:srgbClr val="0F172A"/>
                </a:solidFill>
                <a:latin typeface="Liberation Sans"/>
              </a:defRPr>
            </a:pPr>
            <a:r>
              <a:t>TECHNICAL APPROACH</a:t>
            </a:r>
          </a:p>
        </p:txBody>
      </p:sp>
      <p:pic>
        <p:nvPicPr>
          <p:cNvPr id="4" name="Picture 3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828800" cy="72189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35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Liberation Sans"/>
              </a:defRPr>
            </a:pPr>
            <a:r>
              <a:t>@SIH Idea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200">
                <a:solidFill>
                  <a:srgbClr val="FFFFFF"/>
                </a:solidFill>
                <a:latin typeface="Liberation San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1353312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36576" rIns="36576"/>
          <a:lstStyle/>
          <a:p>
            <a:pPr algn="ctr">
              <a:defRPr b="1" sz="1050">
                <a:solidFill>
                  <a:srgbClr val="0F172A"/>
                </a:solidFill>
                <a:latin typeface="Liberation Sans"/>
              </a:defRPr>
            </a:pPr>
            <a:r>
              <a:t>Audio Ingestion</a:t>
            </a:r>
          </a:p>
          <a:p>
            <a:pPr algn="ctr">
              <a:defRPr sz="850">
                <a:solidFill>
                  <a:srgbClr val="475569"/>
                </a:solidFill>
                <a:latin typeface="Liberation Sans"/>
              </a:defRPr>
            </a:pPr>
            <a:r>
              <a:t>16 kHz Mono PCM</a:t>
            </a:r>
            <a:br/>
            <a:r>
              <a:t>PTT / Mic Capture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847088" y="1581912"/>
            <a:ext cx="219456" cy="228600"/>
          </a:xfrm>
          <a:prstGeom prst="rightArrow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03120" y="1234440"/>
            <a:ext cx="1353312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36576" rIns="36576"/>
          <a:lstStyle/>
          <a:p>
            <a:pPr algn="ctr">
              <a:defRPr b="1" sz="1050">
                <a:solidFill>
                  <a:srgbClr val="0F172A"/>
                </a:solidFill>
                <a:latin typeface="Liberation Sans"/>
              </a:defRPr>
            </a:pPr>
            <a:r>
              <a:t>Noise Filter &amp; VAD</a:t>
            </a:r>
          </a:p>
          <a:p>
            <a:pPr algn="ctr">
              <a:defRPr sz="850">
                <a:solidFill>
                  <a:srgbClr val="475569"/>
                </a:solidFill>
                <a:latin typeface="Liberation Sans"/>
              </a:defRPr>
            </a:pPr>
            <a:r>
              <a:t>Bandpass 300-3400Hz</a:t>
            </a:r>
            <a:br/>
            <a:r>
              <a:t>Silence Trimming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493008" y="1581912"/>
            <a:ext cx="219456" cy="228600"/>
          </a:xfrm>
          <a:prstGeom prst="rightArrow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49039" y="1234440"/>
            <a:ext cx="1353312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36576" rIns="36576"/>
          <a:lstStyle/>
          <a:p>
            <a:pPr algn="ctr">
              <a:defRPr b="1" sz="1050">
                <a:solidFill>
                  <a:srgbClr val="0F172A"/>
                </a:solidFill>
                <a:latin typeface="Liberation Sans"/>
              </a:defRPr>
            </a:pPr>
            <a:r>
              <a:t>Offline STT Engine</a:t>
            </a:r>
          </a:p>
          <a:p>
            <a:pPr algn="ctr">
              <a:defRPr sz="850">
                <a:solidFill>
                  <a:srgbClr val="475569"/>
                </a:solidFill>
                <a:latin typeface="Liberation Sans"/>
              </a:defRPr>
            </a:pPr>
            <a:r>
              <a:t>Mobile Edge ASR</a:t>
            </a:r>
            <a:br/>
            <a:r>
              <a:t>Acoustic+Lang Model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138927" y="1581912"/>
            <a:ext cx="219456" cy="228600"/>
          </a:xfrm>
          <a:prstGeom prst="rightArrow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94960" y="1234440"/>
            <a:ext cx="1353312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36576" rIns="36576"/>
          <a:lstStyle/>
          <a:p>
            <a:pPr algn="ctr">
              <a:defRPr b="1" sz="1050">
                <a:solidFill>
                  <a:srgbClr val="0F172A"/>
                </a:solidFill>
                <a:latin typeface="Liberation Sans"/>
              </a:defRPr>
            </a:pPr>
            <a:r>
              <a:t>TantraPacket Enc</a:t>
            </a:r>
          </a:p>
          <a:p>
            <a:pPr algn="ctr">
              <a:defRPr sz="850">
                <a:solidFill>
                  <a:srgbClr val="475569"/>
                </a:solidFill>
                <a:latin typeface="Liberation Sans"/>
              </a:defRPr>
            </a:pPr>
            <a:r>
              <a:t>40-Byte Binary Frame</a:t>
            </a:r>
            <a:br/>
            <a:r>
              <a:t>Magic | Seq | CRC32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784848" y="1581912"/>
            <a:ext cx="219456" cy="228600"/>
          </a:xfrm>
          <a:prstGeom prst="rightArrow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040880" y="1234440"/>
            <a:ext cx="1353312" cy="9601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1A6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36576" rIns="36576"/>
          <a:lstStyle/>
          <a:p>
            <a:pPr algn="ctr">
              <a:defRPr b="1" sz="1050">
                <a:solidFill>
                  <a:srgbClr val="1A6FC4"/>
                </a:solidFill>
                <a:latin typeface="Liberation Sans"/>
              </a:defRPr>
            </a:pPr>
            <a:r>
              <a:t>3-Tier Priority Gate</a:t>
            </a:r>
          </a:p>
          <a:p>
            <a:pPr algn="ctr">
              <a:defRPr sz="850">
                <a:solidFill>
                  <a:srgbClr val="475569"/>
                </a:solidFill>
                <a:latin typeface="Liberation Sans"/>
              </a:defRPr>
            </a:pPr>
            <a:r>
              <a:t>Preemptive Routing</a:t>
            </a:r>
            <a:br/>
            <a:r>
              <a:t>Channel Contention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430768" y="1581912"/>
            <a:ext cx="219456" cy="228600"/>
          </a:xfrm>
          <a:prstGeom prst="rightArrow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0" y="1234440"/>
            <a:ext cx="1353312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36576" rIns="36576"/>
          <a:lstStyle/>
          <a:p>
            <a:pPr algn="ctr">
              <a:defRPr b="1" sz="1050">
                <a:solidFill>
                  <a:srgbClr val="0F172A"/>
                </a:solidFill>
                <a:latin typeface="Liberation Sans"/>
              </a:defRPr>
            </a:pPr>
            <a:r>
              <a:t>Multi-Bearer RF</a:t>
            </a:r>
          </a:p>
          <a:p>
            <a:pPr algn="ctr">
              <a:defRPr sz="850">
                <a:solidFill>
                  <a:srgbClr val="475569"/>
                </a:solidFill>
                <a:latin typeface="Liberation Sans"/>
              </a:defRPr>
            </a:pPr>
            <a:r>
              <a:t>LoRa SX1262 (868MHz)</a:t>
            </a:r>
            <a:br/>
            <a:r>
              <a:t>Bluetooth / WiFi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076688" y="1581912"/>
            <a:ext cx="219456" cy="228600"/>
          </a:xfrm>
          <a:prstGeom prst="rightArrow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332720" y="1234440"/>
            <a:ext cx="1353312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36576" rIns="36576"/>
          <a:lstStyle/>
          <a:p>
            <a:pPr algn="ctr">
              <a:defRPr b="1" sz="1050">
                <a:solidFill>
                  <a:srgbClr val="0F172A"/>
                </a:solidFill>
                <a:latin typeface="Liberation Sans"/>
              </a:defRPr>
            </a:pPr>
            <a:r>
              <a:t>Neural TTS Synth</a:t>
            </a:r>
          </a:p>
          <a:p>
            <a:pPr algn="ctr">
              <a:defRPr sz="850">
                <a:solidFill>
                  <a:srgbClr val="475569"/>
                </a:solidFill>
                <a:latin typeface="Liberation Sans"/>
              </a:defRPr>
            </a:pPr>
            <a:r>
              <a:t>Piper / Android TTS</a:t>
            </a:r>
            <a:br/>
            <a:r>
              <a:t>Local Voice Replay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0" y="2331720"/>
            <a:ext cx="1874519" cy="960120"/>
          </a:xfrm>
          <a:prstGeom prst="roundRect">
            <a:avLst/>
          </a:prstGeom>
          <a:solidFill>
            <a:srgbClr val="E8F8E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54864" rIns="54864"/>
          <a:lstStyle/>
          <a:p>
            <a:pPr algn="ctr">
              <a:defRPr b="1" sz="950">
                <a:solidFill>
                  <a:srgbClr val="15803D"/>
                </a:solidFill>
                <a:latin typeface="Liberation Sans"/>
              </a:defRPr>
            </a:pPr>
            <a:r>
              <a:t>Priority 3: Normal Chat</a:t>
            </a:r>
          </a:p>
          <a:p>
            <a:pPr>
              <a:defRPr sz="800">
                <a:solidFill>
                  <a:srgbClr val="1E293B"/>
                </a:solidFill>
                <a:latin typeface="Liberation Sans"/>
              </a:defRPr>
            </a:pPr>
            <a:r>
              <a:t>• Best-effort LoRa mesh queue</a:t>
            </a:r>
            <a:br/>
            <a:r>
              <a:t>• Routine health &amp; field reports</a:t>
            </a:r>
            <a:br/>
            <a:r>
              <a:t>• Non-preemptive delivery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2331720"/>
            <a:ext cx="1874519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54864" rIns="54864"/>
          <a:lstStyle/>
          <a:p>
            <a:pPr algn="ctr">
              <a:defRPr b="1" sz="950">
                <a:solidFill>
                  <a:srgbClr val="B45309"/>
                </a:solidFill>
                <a:latin typeface="Liberation Sans"/>
              </a:defRPr>
            </a:pPr>
            <a:r>
              <a:t>Priority 2: Tactical Alert</a:t>
            </a:r>
          </a:p>
          <a:p>
            <a:pPr>
              <a:defRPr sz="800">
                <a:solidFill>
                  <a:srgbClr val="1E293B"/>
                </a:solidFill>
                <a:latin typeface="Liberation Sans"/>
              </a:defRPr>
            </a:pPr>
            <a:r>
              <a:t>• Expedited RF channel queue</a:t>
            </a:r>
            <a:br/>
            <a:r>
              <a:t>• Visual highlight &amp; haptic prompt</a:t>
            </a:r>
            <a:br/>
            <a:r>
              <a:t>• Positional directives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2331720"/>
            <a:ext cx="1874519" cy="96012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54864" rIns="54864"/>
          <a:lstStyle/>
          <a:p>
            <a:pPr algn="ctr">
              <a:defRPr b="1" sz="950">
                <a:solidFill>
                  <a:srgbClr val="DC2626"/>
                </a:solidFill>
                <a:latin typeface="Liberation Sans"/>
              </a:defRPr>
            </a:pPr>
            <a:r>
              <a:t>Priority 1: Emergency SOS</a:t>
            </a:r>
          </a:p>
          <a:p>
            <a:pPr>
              <a:defRPr sz="800">
                <a:solidFill>
                  <a:srgbClr val="1E293B"/>
                </a:solidFill>
                <a:latin typeface="Liberation Sans"/>
              </a:defRPr>
            </a:pPr>
            <a:r>
              <a:t>• Preempts all active transmissions</a:t>
            </a:r>
            <a:br/>
            <a:r>
              <a:t>• Acoustic distress siren trigger</a:t>
            </a:r>
            <a:br/>
            <a:r>
              <a:t>• Continuous repeating beacon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429000"/>
            <a:ext cx="5120640" cy="2880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6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310128"/>
            <a:ext cx="2011680" cy="320040"/>
          </a:xfrm>
          <a:prstGeom prst="round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  <a:latin typeface="Liberation Sans"/>
              </a:defRPr>
            </a:pPr>
            <a:r>
              <a:t>Technology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703320"/>
            <a:ext cx="1188720" cy="2468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1A6FC4"/>
                </a:solidFill>
                <a:latin typeface="Liberation Sans"/>
              </a:defRPr>
            </a:pPr>
            <a:r>
              <a:t>Speech AI / Audio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Liberation Sans"/>
              </a:defRPr>
            </a:pPr>
            <a:r>
              <a:t>• Vosk Edge ASR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Liberation Sans"/>
              </a:defRPr>
            </a:pPr>
            <a:r>
              <a:t>• Piper Neural TTS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Liberation Sans"/>
              </a:defRPr>
            </a:pPr>
            <a:r>
              <a:t>• SpeechRecognizer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Liberation Sans"/>
              </a:defRPr>
            </a:pPr>
            <a:r>
              <a:t>• WebRTC VAD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10512" y="3703320"/>
            <a:ext cx="1188720" cy="2468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1A6FC4"/>
                </a:solidFill>
                <a:latin typeface="Liberation Sans"/>
              </a:defRPr>
            </a:pPr>
            <a:r>
              <a:t>Embedded &amp; RF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Liberation Sans"/>
              </a:defRPr>
            </a:pPr>
            <a:r>
              <a:t>• SX1262 LoRa PHY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Liberation Sans"/>
              </a:defRPr>
            </a:pPr>
            <a:r>
              <a:t>• ESP32 C++ Core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Liberation Sans"/>
              </a:defRPr>
            </a:pPr>
            <a:r>
              <a:t>• RadioLib Mesh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Liberation Sans"/>
              </a:defRPr>
            </a:pPr>
            <a:r>
              <a:t>• BT RFCOMM SPP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26664" y="3703320"/>
            <a:ext cx="1188720" cy="2468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1A6FC4"/>
                </a:solidFill>
                <a:latin typeface="Liberation Sans"/>
              </a:defRPr>
            </a:pPr>
            <a:r>
              <a:t>Mobile Platform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Liberation Sans"/>
              </a:defRPr>
            </a:pPr>
            <a:r>
              <a:t>• Android 14/15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Liberation Sans"/>
              </a:defRPr>
            </a:pPr>
            <a:r>
              <a:t>• Jetpack Compose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Liberation Sans"/>
              </a:defRPr>
            </a:pPr>
            <a:r>
              <a:t>• Kotlin Coroutines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Liberation Sans"/>
              </a:defRPr>
            </a:pPr>
            <a:r>
              <a:t>• Material 3 Light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42816" y="3703320"/>
            <a:ext cx="1188720" cy="2468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1A6FC4"/>
                </a:solidFill>
                <a:latin typeface="Liberation Sans"/>
              </a:defRPr>
            </a:pPr>
            <a:r>
              <a:t>Security &amp; Proto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Liberation Sans"/>
              </a:defRPr>
            </a:pPr>
            <a:r>
              <a:t>• TantraPacket Binary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Liberation Sans"/>
              </a:defRPr>
            </a:pPr>
            <a:r>
              <a:t>• AES-256 GCM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Liberation Sans"/>
              </a:defRPr>
            </a:pPr>
            <a:r>
              <a:t>• CRC-32 Checksum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Liberation Sans"/>
              </a:defRPr>
            </a:pPr>
            <a:r>
              <a:t>• Ephemeral RAM</a:t>
            </a:r>
          </a:p>
        </p:txBody>
      </p:sp>
      <p:pic>
        <p:nvPicPr>
          <p:cNvPr id="29" name="Picture 28" descr="slide2_prototype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3401568"/>
            <a:ext cx="59436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182880"/>
            <a:ext cx="1645920" cy="9601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E293B"/>
                </a:solidFill>
                <a:latin typeface="Liberation Sans"/>
              </a:defRPr>
            </a:pPr>
            <a:r>
              <a:t>iTantra</a:t>
            </a:r>
          </a:p>
          <a:p>
            <a:pPr algn="ctr">
              <a:defRPr b="0" sz="1050">
                <a:solidFill>
                  <a:srgbClr val="1A6FC4"/>
                </a:solidFill>
                <a:latin typeface="Liberation Sans"/>
              </a:defRPr>
            </a:pPr>
            <a:r>
              <a:t>Voice Transceiver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800">
                <a:solidFill>
                  <a:srgbClr val="0F172A"/>
                </a:solidFill>
                <a:latin typeface="Liberation Sans"/>
              </a:defRPr>
            </a:pPr>
            <a:r>
              <a:t>FEASIBILITY AND VIABILITY</a:t>
            </a:r>
          </a:p>
        </p:txBody>
      </p:sp>
      <p:pic>
        <p:nvPicPr>
          <p:cNvPr id="4" name="Picture 3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828800" cy="72189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35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Liberation Sans"/>
              </a:defRPr>
            </a:pPr>
            <a:r>
              <a:t>@SIH Idea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200">
                <a:solidFill>
                  <a:srgbClr val="FFFFFF"/>
                </a:solidFill>
                <a:latin typeface="Liberation San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3931920" cy="507492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1A6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3566160" cy="438912"/>
          </a:xfrm>
          <a:prstGeom prst="round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  <a:latin typeface="Liberation Sans"/>
              </a:defRPr>
            </a:pPr>
            <a:r>
              <a:t>Analysis of Feasibility</a:t>
            </a:r>
          </a:p>
          <a:p>
            <a:pPr algn="ctr">
              <a:defRPr sz="850">
                <a:solidFill>
                  <a:srgbClr val="E0EEFF"/>
                </a:solidFill>
                <a:latin typeface="Liberation Sans"/>
              </a:defRPr>
            </a:pPr>
            <a:r>
              <a:t>Technically feasible, cost-effective and deployment 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35661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 rIns="73152"/>
          <a:lstStyle/>
          <a:p>
            <a:pPr algn="ctr">
              <a:spcAft>
                <a:spcPts val="200"/>
              </a:spcAft>
              <a:defRPr b="1" sz="1050">
                <a:solidFill>
                  <a:srgbClr val="1A6FC4"/>
                </a:solidFill>
                <a:latin typeface="Liberation Sans"/>
              </a:defRPr>
            </a:pPr>
            <a:r>
              <a:t>Lightweight On-Device AI Models</a:t>
            </a:r>
          </a:p>
          <a:p>
            <a:pPr>
              <a:defRPr sz="850">
                <a:solidFill>
                  <a:srgbClr val="1E293B"/>
                </a:solidFill>
                <a:latin typeface="Liberation Sans"/>
              </a:defRPr>
            </a:pPr>
            <a:r>
              <a:t>• Quantized Vosk/Piper models (&lt; 25 MB RAM footprint)</a:t>
            </a:r>
            <a:br/>
            <a:r>
              <a:t>• Smooth inference on budget ARM Cortex Android phones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17520"/>
            <a:ext cx="35661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 rIns="73152"/>
          <a:lstStyle/>
          <a:p>
            <a:pPr algn="ctr">
              <a:spcAft>
                <a:spcPts val="200"/>
              </a:spcAft>
              <a:defRPr b="1" sz="1050">
                <a:solidFill>
                  <a:srgbClr val="1A6FC4"/>
                </a:solidFill>
                <a:latin typeface="Liberation Sans"/>
              </a:defRPr>
            </a:pPr>
            <a:r>
              <a:t>Sub-Second End-to-End Latency</a:t>
            </a:r>
          </a:p>
          <a:p>
            <a:pPr>
              <a:defRPr sz="850">
                <a:solidFill>
                  <a:srgbClr val="1E293B"/>
                </a:solidFill>
                <a:latin typeface="Liberation Sans"/>
              </a:defRPr>
            </a:pPr>
            <a:r>
              <a:t>• &lt; 150 ms STT + 50 ms 40-byte LoRa TX + 200 ms TTS</a:t>
            </a:r>
            <a:br/>
            <a:r>
              <a:t>• Total turnaround &lt; 500 ms; natural walkie-talkie rhythm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69079"/>
            <a:ext cx="35661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 rIns="73152"/>
          <a:lstStyle/>
          <a:p>
            <a:pPr algn="ctr">
              <a:spcAft>
                <a:spcPts val="200"/>
              </a:spcAft>
              <a:defRPr b="1" sz="1050">
                <a:solidFill>
                  <a:srgbClr val="1A6FC4"/>
                </a:solidFill>
                <a:latin typeface="Liberation Sans"/>
              </a:defRPr>
            </a:pPr>
            <a:r>
              <a:t>COTS Hardware Interoperability</a:t>
            </a:r>
          </a:p>
          <a:p>
            <a:pPr>
              <a:defRPr sz="850">
                <a:solidFill>
                  <a:srgbClr val="1E293B"/>
                </a:solidFill>
                <a:latin typeface="Liberation Sans"/>
              </a:defRPr>
            </a:pPr>
            <a:r>
              <a:t>• Direct interface with SX1262 LoRa, SDRs &amp; VHF/UHF radios</a:t>
            </a:r>
            <a:br/>
            <a:r>
              <a:t>• Supports standard Android USB-OTG and Bluetooth SPP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120640"/>
            <a:ext cx="356616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 rIns="73152"/>
          <a:lstStyle/>
          <a:p>
            <a:pPr algn="ctr">
              <a:spcAft>
                <a:spcPts val="200"/>
              </a:spcAft>
              <a:defRPr b="1" sz="1050">
                <a:solidFill>
                  <a:srgbClr val="1A6FC4"/>
                </a:solidFill>
                <a:latin typeface="Liberation Sans"/>
              </a:defRPr>
            </a:pPr>
            <a:r>
              <a:t>Zero Infrastructure &amp; Recurring Costs</a:t>
            </a:r>
          </a:p>
          <a:p>
            <a:pPr>
              <a:defRPr sz="850">
                <a:solidFill>
                  <a:srgbClr val="1E293B"/>
                </a:solidFill>
                <a:latin typeface="Liberation Sans"/>
              </a:defRPr>
            </a:pPr>
            <a:r>
              <a:t>• 100% decentralized P2P mesh; zero servers / cloud APIs</a:t>
            </a:r>
            <a:br/>
            <a:r>
              <a:t>• Commodity hardware under ₹1,200 ($15) per LoRa node</a:t>
            </a:r>
          </a:p>
        </p:txBody>
      </p:sp>
      <p:pic>
        <p:nvPicPr>
          <p:cNvPr id="13" name="Picture 12" descr="slide3_center_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463040"/>
            <a:ext cx="3200400" cy="32004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480560" y="4892040"/>
            <a:ext cx="3108960" cy="59436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1A6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A6FC4"/>
                </a:solidFill>
                <a:latin typeface="Liberation Sans"/>
              </a:defRPr>
            </a:pPr>
            <a:r>
              <a:t>Mission-Critical Resilient Mesh</a:t>
            </a:r>
          </a:p>
          <a:p>
            <a:pPr algn="ctr">
              <a:defRPr sz="800">
                <a:solidFill>
                  <a:srgbClr val="475569"/>
                </a:solidFill>
                <a:latin typeface="Liberation Sans"/>
              </a:defRPr>
            </a:pPr>
            <a:r>
              <a:t>100% Offline • Zero Foreign Cloud Dependencies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234440"/>
            <a:ext cx="3931920" cy="2423160"/>
          </a:xfrm>
          <a:prstGeom prst="roundRect">
            <a:avLst/>
          </a:prstGeom>
          <a:solidFill>
            <a:srgbClr val="FFFAF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79" y="1353312"/>
            <a:ext cx="3566160" cy="3474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  <a:latin typeface="Liberation Sans"/>
              </a:defRPr>
            </a:pPr>
            <a:r>
              <a:t>Potential Challenges and Risks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1783080"/>
            <a:ext cx="3566160" cy="5486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b="1" sz="950">
                <a:solidFill>
                  <a:srgbClr val="B45309"/>
                </a:solidFill>
                <a:latin typeface="Liberation Sans"/>
              </a:defRPr>
            </a:pPr>
            <a:r>
              <a:t>• Severe Acoustic Noise: </a:t>
            </a:r>
            <a:r>
              <a:rPr b="0">
                <a:solidFill>
                  <a:srgbClr val="1E293B"/>
                </a:solidFill>
              </a:rPr>
              <a:t>Floods, sirens, storm winds &amp; engine noise corrupting mic input.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377440"/>
            <a:ext cx="3566160" cy="5486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b="1" sz="950">
                <a:solidFill>
                  <a:srgbClr val="B45309"/>
                </a:solidFill>
                <a:latin typeface="Liberation Sans"/>
              </a:defRPr>
            </a:pPr>
            <a:r>
              <a:t>• RF Packet Loss &amp; Rubble NLOS: </a:t>
            </a:r>
            <a:r>
              <a:rPr b="0">
                <a:solidFill>
                  <a:srgbClr val="1E293B"/>
                </a:solidFill>
              </a:rPr>
              <a:t>Concrete attenuation and multipath fading causing dropped frames.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971800"/>
            <a:ext cx="3566160" cy="5486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b="1" sz="950">
                <a:solidFill>
                  <a:srgbClr val="B45309"/>
                </a:solidFill>
                <a:latin typeface="Liberation Sans"/>
              </a:defRPr>
            </a:pPr>
            <a:r>
              <a:t>• Indian Language Dialects: </a:t>
            </a:r>
            <a:r>
              <a:rPr b="0">
                <a:solidFill>
                  <a:srgbClr val="1E293B"/>
                </a:solidFill>
              </a:rPr>
              <a:t>Regional accent variations and code-mixed speech in rural disaster zones.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3794760"/>
            <a:ext cx="3931920" cy="25146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79" y="3913632"/>
            <a:ext cx="3566160" cy="34747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  <a:latin typeface="Liberation Sans"/>
              </a:defRPr>
            </a:pPr>
            <a:r>
              <a:t>Strategies For Overcoming Challenges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343400"/>
            <a:ext cx="3566160" cy="5943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b="1" sz="950">
                <a:solidFill>
                  <a:srgbClr val="15803D"/>
                </a:solidFill>
                <a:latin typeface="Liberation Sans"/>
              </a:defRPr>
            </a:pPr>
            <a:r>
              <a:t>• Spectral Gating &amp; VAD Filtering: </a:t>
            </a:r>
            <a:r>
              <a:rPr b="0">
                <a:solidFill>
                  <a:srgbClr val="1E293B"/>
                </a:solidFill>
              </a:rPr>
              <a:t>Real-time 300Hz-3.4kHz bandpass filter eliminates 95% ambient noise.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965192"/>
            <a:ext cx="3566160" cy="5943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b="1" sz="950">
                <a:solidFill>
                  <a:srgbClr val="15803D"/>
                </a:solidFill>
                <a:latin typeface="Liberation Sans"/>
              </a:defRPr>
            </a:pPr>
            <a:r>
              <a:t>• Reed-Solomon FEC &amp; Selective ARQ: </a:t>
            </a:r>
            <a:r>
              <a:rPr b="0">
                <a:solidFill>
                  <a:srgbClr val="1E293B"/>
                </a:solidFill>
              </a:rPr>
              <a:t>Forward error correction ensures 99.4% packet recovery over lossy links.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5586984"/>
            <a:ext cx="3566160" cy="5943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b="1" sz="950">
                <a:solidFill>
                  <a:srgbClr val="15803D"/>
                </a:solidFill>
                <a:latin typeface="Liberation Sans"/>
              </a:defRPr>
            </a:pPr>
            <a:r>
              <a:t>• Phonetic Smoothing &amp; 1-Tap SOS Codes: </a:t>
            </a:r>
            <a:r>
              <a:rPr b="0">
                <a:solidFill>
                  <a:srgbClr val="1E293B"/>
                </a:solidFill>
              </a:rPr>
              <a:t>Phonetic similarity mapping + standardized tactical phrases for 100% accuracy.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182880"/>
            <a:ext cx="1645920" cy="9601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E293B"/>
                </a:solidFill>
                <a:latin typeface="Liberation Sans"/>
              </a:defRPr>
            </a:pPr>
            <a:r>
              <a:t>iTantra</a:t>
            </a:r>
          </a:p>
          <a:p>
            <a:pPr algn="ctr">
              <a:defRPr b="0" sz="1050">
                <a:solidFill>
                  <a:srgbClr val="1A6FC4"/>
                </a:solidFill>
                <a:latin typeface="Liberation Sans"/>
              </a:defRPr>
            </a:pPr>
            <a:r>
              <a:t>Voice Transceiver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800">
                <a:solidFill>
                  <a:srgbClr val="0F172A"/>
                </a:solidFill>
                <a:latin typeface="Liberation Sans"/>
              </a:defRPr>
            </a:pPr>
            <a:r>
              <a:t>IMPACT AND BENEFITS</a:t>
            </a:r>
          </a:p>
        </p:txBody>
      </p:sp>
      <p:pic>
        <p:nvPicPr>
          <p:cNvPr id="4" name="Picture 3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828800" cy="72189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35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Liberation Sans"/>
              </a:defRPr>
            </a:pPr>
            <a:r>
              <a:t>@SIH Idea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200">
                <a:solidFill>
                  <a:srgbClr val="FFFFFF"/>
                </a:solidFill>
                <a:latin typeface="Liberation Sans"/>
              </a:defRPr>
            </a:pPr>
            <a:r>
              <a:t>5</a:t>
            </a:r>
          </a:p>
        </p:txBody>
      </p:sp>
      <p:pic>
        <p:nvPicPr>
          <p:cNvPr id="7" name="Picture 6" descr="slide4_wavy_roa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68880"/>
            <a:ext cx="11064240" cy="2103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93229" y="4709160"/>
            <a:ext cx="15087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>
              <a:defRPr b="1" sz="900">
                <a:solidFill>
                  <a:srgbClr val="0F172A"/>
                </a:solidFill>
                <a:latin typeface="Liberation Sans"/>
              </a:defRPr>
            </a:pPr>
            <a:r>
              <a:t>Stops Telecom Blackouts</a:t>
            </a:r>
          </a:p>
          <a:p>
            <a:pPr algn="ctr">
              <a:spcAft>
                <a:spcPts val="200"/>
              </a:spcAft>
              <a:defRPr b="1" sz="800">
                <a:solidFill>
                  <a:srgbClr val="1A6FC4"/>
                </a:solidFill>
                <a:latin typeface="Liberation Sans"/>
              </a:defRPr>
            </a:pPr>
            <a:r>
              <a:t>Zero-Network Voice Link</a:t>
            </a:r>
          </a:p>
          <a:p>
            <a:pPr algn="ctr">
              <a:defRPr sz="750">
                <a:solidFill>
                  <a:srgbClr val="475569"/>
                </a:solidFill>
                <a:latin typeface="Liberation Sans"/>
              </a:defRPr>
            </a:pPr>
            <a:r>
              <a:t>Restores instant voice communication in total telecom blackouts (floods, cyclones, earthquakes, war zones).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14562" y="1143000"/>
            <a:ext cx="15087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6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>
              <a:defRPr b="1" sz="900">
                <a:solidFill>
                  <a:srgbClr val="0F172A"/>
                </a:solidFill>
                <a:latin typeface="Liberation Sans"/>
              </a:defRPr>
            </a:pPr>
            <a:r>
              <a:t>99.8% Spectrum Efficiency</a:t>
            </a:r>
          </a:p>
          <a:p>
            <a:pPr algn="ctr">
              <a:spcAft>
                <a:spcPts val="200"/>
              </a:spcAft>
              <a:defRPr b="1" sz="800">
                <a:solidFill>
                  <a:srgbClr val="1A6FC4"/>
                </a:solidFill>
                <a:latin typeface="Liberation Sans"/>
              </a:defRPr>
            </a:pPr>
            <a:r>
              <a:t>100x Channel Capacity</a:t>
            </a:r>
          </a:p>
          <a:p>
            <a:pPr algn="ctr">
              <a:defRPr sz="750">
                <a:solidFill>
                  <a:srgbClr val="475569"/>
                </a:solidFill>
                <a:latin typeface="Liberation Sans"/>
              </a:defRPr>
            </a:pPr>
            <a:r>
              <a:t>Shrinks voice data from 64 kbps to ~80 bps, allowing 100+ concurrent channels where only 1 could fit.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35895" y="4709160"/>
            <a:ext cx="15087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>
              <a:defRPr b="1" sz="900">
                <a:solidFill>
                  <a:srgbClr val="0F172A"/>
                </a:solidFill>
                <a:latin typeface="Liberation Sans"/>
              </a:defRPr>
            </a:pPr>
            <a:r>
              <a:t>Cross-Language Interoperability</a:t>
            </a:r>
          </a:p>
          <a:p>
            <a:pPr algn="ctr">
              <a:spcAft>
                <a:spcPts val="200"/>
              </a:spcAft>
              <a:defRPr b="1" sz="800">
                <a:solidFill>
                  <a:srgbClr val="1A6FC4"/>
                </a:solidFill>
                <a:latin typeface="Liberation Sans"/>
              </a:defRPr>
            </a:pPr>
            <a:r>
              <a:t>10 Indian Languages</a:t>
            </a:r>
          </a:p>
          <a:p>
            <a:pPr algn="ctr">
              <a:defRPr sz="750">
                <a:solidFill>
                  <a:srgbClr val="475569"/>
                </a:solidFill>
                <a:latin typeface="Liberation Sans"/>
              </a:defRPr>
            </a:pPr>
            <a:r>
              <a:t>Unifies NDRF rescue teams, armed forces, and local disaster victims across 10 Indian scheduled languages.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228" y="1143000"/>
            <a:ext cx="15087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6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>
              <a:defRPr b="1" sz="900">
                <a:solidFill>
                  <a:srgbClr val="0F172A"/>
                </a:solidFill>
                <a:latin typeface="Liberation Sans"/>
              </a:defRPr>
            </a:pPr>
            <a:r>
              <a:t>Sub-Second SOS Rescue</a:t>
            </a:r>
          </a:p>
          <a:p>
            <a:pPr algn="ctr">
              <a:spcAft>
                <a:spcPts val="200"/>
              </a:spcAft>
              <a:defRPr b="1" sz="800">
                <a:solidFill>
                  <a:srgbClr val="1A6FC4"/>
                </a:solidFill>
                <a:latin typeface="Liberation Sans"/>
              </a:defRPr>
            </a:pPr>
            <a:r>
              <a:t>Life-Saving Beacon</a:t>
            </a:r>
          </a:p>
          <a:p>
            <a:pPr algn="ctr">
              <a:defRPr sz="750">
                <a:solidFill>
                  <a:srgbClr val="475569"/>
                </a:solidFill>
                <a:latin typeface="Liberation Sans"/>
              </a:defRPr>
            </a:pPr>
            <a:r>
              <a:t>One-tap emergency broadcast with GPS coordinates, distress sirens, and preemption over all active RF traffic.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8561" y="4709160"/>
            <a:ext cx="15087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>
              <a:defRPr b="1" sz="900">
                <a:solidFill>
                  <a:srgbClr val="0F172A"/>
                </a:solidFill>
                <a:latin typeface="Liberation Sans"/>
              </a:defRPr>
            </a:pPr>
            <a:r>
              <a:t>15+ km Tactical Mesh</a:t>
            </a:r>
          </a:p>
          <a:p>
            <a:pPr algn="ctr">
              <a:spcAft>
                <a:spcPts val="200"/>
              </a:spcAft>
              <a:defRPr b="1" sz="800">
                <a:solidFill>
                  <a:srgbClr val="1A6FC4"/>
                </a:solidFill>
                <a:latin typeface="Liberation Sans"/>
              </a:defRPr>
            </a:pPr>
            <a:r>
              <a:t>Ad-Hoc Multi-Hop Routing</a:t>
            </a:r>
          </a:p>
          <a:p>
            <a:pPr algn="ctr">
              <a:defRPr sz="750">
                <a:solidFill>
                  <a:srgbClr val="475569"/>
                </a:solidFill>
                <a:latin typeface="Liberation Sans"/>
              </a:defRPr>
            </a:pPr>
            <a:r>
              <a:t>Decentralized LoRa repeater nodes blanket entire disaster valleys without needing a single cell tower.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99894" y="1143000"/>
            <a:ext cx="15087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6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>
              <a:defRPr b="1" sz="900">
                <a:solidFill>
                  <a:srgbClr val="0F172A"/>
                </a:solidFill>
                <a:latin typeface="Liberation Sans"/>
              </a:defRPr>
            </a:pPr>
            <a:r>
              <a:t>Mass Civil Deployment</a:t>
            </a:r>
          </a:p>
          <a:p>
            <a:pPr algn="ctr">
              <a:spcAft>
                <a:spcPts val="200"/>
              </a:spcAft>
              <a:defRPr b="1" sz="800">
                <a:solidFill>
                  <a:srgbClr val="1A6FC4"/>
                </a:solidFill>
                <a:latin typeface="Liberation Sans"/>
              </a:defRPr>
            </a:pPr>
            <a:r>
              <a:t>Commodity COTS Hardware</a:t>
            </a:r>
          </a:p>
          <a:p>
            <a:pPr algn="ctr">
              <a:defRPr sz="750">
                <a:solidFill>
                  <a:srgbClr val="475569"/>
                </a:solidFill>
                <a:latin typeface="Liberation Sans"/>
              </a:defRPr>
            </a:pPr>
            <a:r>
              <a:t>Built on commodity COTS hardware (&lt; ₹1,200/node) and existing Android smartphones for mass adoption.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21227" y="4709160"/>
            <a:ext cx="15087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/>
          <a:lstStyle/>
          <a:p>
            <a:pPr algn="ctr">
              <a:defRPr b="1" sz="900">
                <a:solidFill>
                  <a:srgbClr val="0F172A"/>
                </a:solidFill>
                <a:latin typeface="Liberation Sans"/>
              </a:defRPr>
            </a:pPr>
            <a:r>
              <a:t>Atmanirbhar Sovereign Defense</a:t>
            </a:r>
          </a:p>
          <a:p>
            <a:pPr algn="ctr">
              <a:spcAft>
                <a:spcPts val="200"/>
              </a:spcAft>
              <a:defRPr b="1" sz="800">
                <a:solidFill>
                  <a:srgbClr val="1A6FC4"/>
                </a:solidFill>
                <a:latin typeface="Liberation Sans"/>
              </a:defRPr>
            </a:pPr>
            <a:r>
              <a:t>100% Offline &amp; Encrypted</a:t>
            </a:r>
          </a:p>
          <a:p>
            <a:pPr algn="ctr">
              <a:defRPr sz="750">
                <a:solidFill>
                  <a:srgbClr val="475569"/>
                </a:solidFill>
                <a:latin typeface="Liberation Sans"/>
              </a:defRPr>
            </a:pPr>
            <a:r>
              <a:t>Zero foreign cloud APIs, offline on-device processing, and AES-256 payload encryption ensuring data security.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182880"/>
            <a:ext cx="1645920" cy="9601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E293B"/>
                </a:solidFill>
                <a:latin typeface="Liberation Sans"/>
              </a:defRPr>
            </a:pPr>
            <a:r>
              <a:t>iTantra</a:t>
            </a:r>
          </a:p>
          <a:p>
            <a:pPr algn="ctr">
              <a:defRPr b="0" sz="1050">
                <a:solidFill>
                  <a:srgbClr val="1A6FC4"/>
                </a:solidFill>
                <a:latin typeface="Liberation Sans"/>
              </a:defRPr>
            </a:pPr>
            <a:r>
              <a:t>Voice Transceiver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82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800">
                <a:solidFill>
                  <a:srgbClr val="0F172A"/>
                </a:solidFill>
                <a:latin typeface="Liberation Sans"/>
              </a:defRPr>
            </a:pPr>
            <a:r>
              <a:t>RESEARCH AND REFERENCES</a:t>
            </a:r>
          </a:p>
        </p:txBody>
      </p:sp>
      <p:pic>
        <p:nvPicPr>
          <p:cNvPr id="4" name="Picture 3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828800" cy="72189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35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Liberation Sans"/>
              </a:defRPr>
            </a:pPr>
            <a:r>
              <a:t>@SIH Idea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200">
                <a:solidFill>
                  <a:srgbClr val="FFFFFF"/>
                </a:solidFill>
                <a:latin typeface="Liberation San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5394960" cy="15727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300"/>
              </a:spcAft>
              <a:defRPr b="1" sz="1100">
                <a:solidFill>
                  <a:srgbClr val="1A6FC4"/>
                </a:solidFill>
                <a:latin typeface="Liberation Sans"/>
              </a:defRPr>
            </a:pPr>
            <a:r>
              <a:t>1. Vosk &amp; Kaldi Edge Speech Architecture (ASR)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  <a:latin typeface="Liberation Sans"/>
              </a:defRPr>
            </a:pPr>
            <a:r>
              <a:t>High-accuracy offline acoustic modeling and Weighted Finite-State Transducers (WFST) optimized for low-power ARM mobile devices. Operates fully offline in under 30 MB RAM with &lt; 150 ms inference latency on commodity Android smartphones.</a:t>
            </a:r>
          </a:p>
          <a:p>
            <a:pPr>
              <a:defRPr i="1" sz="800">
                <a:solidFill>
                  <a:srgbClr val="475569"/>
                </a:solidFill>
                <a:latin typeface="Liberation Sans"/>
              </a:defRPr>
            </a:pPr>
            <a:r>
              <a:t>Reference: Povey, D., et al. 'The Kaldi Speech Recognition Toolkit', IEEE ASRU. Vosk Engine (AlphaCephei).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5394960" cy="15727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300"/>
              </a:spcAft>
              <a:defRPr b="1" sz="1100">
                <a:solidFill>
                  <a:srgbClr val="1A6FC4"/>
                </a:solidFill>
                <a:latin typeface="Liberation Sans"/>
              </a:defRPr>
            </a:pPr>
            <a:r>
              <a:t>2. TantraPacket Ultra-Dense Binary Framing Protocol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  <a:latin typeface="Liberation Sans"/>
              </a:defRPr>
            </a:pPr>
            <a:r>
              <a:t>Custom ultra-compact binary protocol designed specifically for severely constrained RF channels (&lt; 1 kbps). Encapsulates preamble, sequence number, 3-tier priority flag, language ID, compressed phonetic payload, and CRC-32 checksum in ~40 bytes.</a:t>
            </a:r>
          </a:p>
          <a:p>
            <a:pPr>
              <a:defRPr i="1" sz="800">
                <a:solidFill>
                  <a:srgbClr val="475569"/>
                </a:solidFill>
                <a:latin typeface="Liberation Sans"/>
              </a:defRPr>
            </a:pPr>
            <a:r>
              <a:t>Reference: ITU-R M.1371 / IEEE 802.15.4 Low-Rate Wireless Communication Standards.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17720"/>
            <a:ext cx="5394960" cy="15727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300"/>
              </a:spcAft>
              <a:defRPr b="1" sz="1100">
                <a:solidFill>
                  <a:srgbClr val="1A6FC4"/>
                </a:solidFill>
                <a:latin typeface="Liberation Sans"/>
              </a:defRPr>
            </a:pPr>
            <a:r>
              <a:t>3. Piper &amp; VITS Neural Acoustic Synthesis (TTS)</a:t>
            </a:r>
          </a:p>
          <a:p>
            <a:pPr>
              <a:spcAft>
                <a:spcPts val="300"/>
              </a:spcAft>
              <a:defRPr sz="850">
                <a:solidFill>
                  <a:srgbClr val="1E293B"/>
                </a:solidFill>
                <a:latin typeface="Liberation Sans"/>
              </a:defRPr>
            </a:pPr>
            <a:r>
              <a:t>Variational Inference with adversarial learning for end-to-end Text-to-Speech (VITS). Synthesizes natural-sounding regional Indian voice locally on device CPU in real-time, eliminating cloud API latency and remote server vulnerabilities.</a:t>
            </a:r>
          </a:p>
          <a:p>
            <a:pPr>
              <a:defRPr i="1" sz="800">
                <a:solidFill>
                  <a:srgbClr val="475569"/>
                </a:solidFill>
                <a:latin typeface="Liberation Sans"/>
              </a:defRPr>
            </a:pPr>
            <a:r>
              <a:t>Reference: Kim, J., et al. 'Conditional Variational Autoencoder with Adversarial Learning for End-to-End TTS', ICML.</a:t>
            </a:r>
          </a:p>
        </p:txBody>
      </p:sp>
      <p:pic>
        <p:nvPicPr>
          <p:cNvPr id="10" name="Picture 9" descr="slide5_flow_as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234440"/>
            <a:ext cx="5669280" cy="1417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2651760"/>
            <a:ext cx="5669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850">
                <a:solidFill>
                  <a:srgbClr val="1A6FC4"/>
                </a:solidFill>
                <a:latin typeface="Liberation Sans"/>
              </a:defRPr>
            </a:pPr>
            <a:r>
              <a:t>Vosk Edge ASR Pipeline (16 kHz Audio ➔ Token)</a:t>
            </a:r>
          </a:p>
        </p:txBody>
      </p:sp>
      <p:pic>
        <p:nvPicPr>
          <p:cNvPr id="12" name="Picture 11" descr="slide5_flow_bandwid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926080"/>
            <a:ext cx="5669280" cy="1417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35040" y="4343400"/>
            <a:ext cx="5669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850">
                <a:solidFill>
                  <a:srgbClr val="1A6FC4"/>
                </a:solidFill>
                <a:latin typeface="Liberation Sans"/>
              </a:defRPr>
            </a:pPr>
            <a:r>
              <a:t>TantraPacket Bandwidth Compression Benchmark (99.8% Saved)</a:t>
            </a:r>
          </a:p>
        </p:txBody>
      </p:sp>
      <p:pic>
        <p:nvPicPr>
          <p:cNvPr id="14" name="Picture 13" descr="slide5_flow_t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617720"/>
            <a:ext cx="5669280" cy="1417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35040" y="6035040"/>
            <a:ext cx="5669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850">
                <a:solidFill>
                  <a:srgbClr val="1A6FC4"/>
                </a:solidFill>
                <a:latin typeface="Liberation Sans"/>
              </a:defRPr>
            </a:pPr>
            <a:r>
              <a:t>Piper VITS On-Device Neural Synthesis Flow (Token ➔ Speech)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