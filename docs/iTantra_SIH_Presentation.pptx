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182880"/>
            <a:ext cx="1645920" cy="9601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1E293B"/>
                </a:solidFill>
                <a:latin typeface="Liberation Sans"/>
              </a:defRPr>
            </a:pPr>
            <a:r>
              <a:t>iTantra</a:t>
            </a:r>
          </a:p>
          <a:p>
            <a:pPr algn="ctr">
              <a:defRPr b="0" sz="1050">
                <a:solidFill>
                  <a:srgbClr val="1A6FC4"/>
                </a:solidFill>
                <a:latin typeface="Liberation Sans"/>
              </a:defRPr>
            </a:pPr>
            <a:r>
              <a:t>Voice Transceiver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82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800">
                <a:solidFill>
                  <a:srgbClr val="0F172A"/>
                </a:solidFill>
                <a:latin typeface="Liberation Sans"/>
              </a:defRPr>
            </a:pPr>
            <a:r>
              <a:t>iTANTRA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749808"/>
            <a:ext cx="7498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200">
                <a:solidFill>
                  <a:srgbClr val="1A6FC4"/>
                </a:solidFill>
                <a:latin typeface="Liberation Sans"/>
              </a:defRPr>
            </a:pPr>
            <a:r>
              <a:t>AI-Powered Real-Time Multilingual Neural Transceiver for Low-Bitrate Disaster &amp; Tactical Radios</a:t>
            </a:r>
          </a:p>
        </p:txBody>
      </p:sp>
      <p:pic>
        <p:nvPicPr>
          <p:cNvPr id="5" name="Picture 4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828800" cy="72189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3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  <a:latin typeface="Liberation Sans"/>
              </a:defRPr>
            </a:pPr>
            <a:r>
              <a:t>@SIH Idea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FFFFFF"/>
                </a:solidFill>
                <a:latin typeface="Liberation Sans"/>
              </a:defRPr>
            </a:pPr>
            <a:r>
              <a:t>2</a:t>
            </a:r>
          </a:p>
        </p:txBody>
      </p:sp>
      <p:pic>
        <p:nvPicPr>
          <p:cNvPr id="8" name="Picture 7" descr="slide1_phone_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371600"/>
            <a:ext cx="356616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1280160"/>
            <a:ext cx="2011680" cy="365760"/>
          </a:xfrm>
          <a:prstGeom prst="roundRect">
            <a:avLst/>
          </a:prstGeom>
          <a:solidFill>
            <a:srgbClr val="FFE4EB"/>
          </a:solidFill>
          <a:ln w="19050"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D81B60"/>
                </a:solidFill>
                <a:latin typeface="Liberation Sans"/>
              </a:defRPr>
            </a:pPr>
            <a:r>
              <a:t>Challenges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664208"/>
            <a:ext cx="3749039" cy="1810512"/>
          </a:xfrm>
          <a:prstGeom prst="rect">
            <a:avLst/>
          </a:prstGeom>
          <a:noFill/>
        </p:spPr>
        <p:txBody>
          <a:bodyPr wrap="square" lIns="36576" rIns="36576" tIns="36576">
            <a:spAutoFit/>
          </a:bodyPr>
          <a:lstStyle/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Total cellular &amp; telecom network blackout during natural disasters (floods, earthquakes, cyclones).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Standard voice codecs (256 kbps PCM / 24 kbps Opus) collapse over narrowband radio links (&lt; 1 kbps).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Illiterate disaster victims and stressed tactical personnel cannot type or navigate mobile keyboards.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Critical multilingual barrier between national relief teams (NDRF) and regional disaster victims.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11880"/>
            <a:ext cx="2011680" cy="365760"/>
          </a:xfrm>
          <a:prstGeom prst="roundRect">
            <a:avLst/>
          </a:prstGeom>
          <a:solidFill>
            <a:srgbClr val="EBF4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1D4ED8"/>
                </a:solidFill>
                <a:latin typeface="Liberation Sans"/>
              </a:defRPr>
            </a:pPr>
            <a:r>
              <a:t>Proposed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95928"/>
            <a:ext cx="3749039" cy="1810512"/>
          </a:xfrm>
          <a:prstGeom prst="rect">
            <a:avLst/>
          </a:prstGeom>
          <a:noFill/>
        </p:spPr>
        <p:txBody>
          <a:bodyPr wrap="square" lIns="36576" rIns="36576" tIns="36576">
            <a:spAutoFit/>
          </a:bodyPr>
          <a:lstStyle/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100% Offline Edge STT: On-device Vosk ASR transcribes spoken voice to text tokens with zero internet.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TantraPacket Binary Protocol: Encapsulates language ID, priority, and text into tiny 106.5-byte packets.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Multi-Bearer P2P Radio: Transmits over de-licensed LoRa (865.2 MHz), Bluetooth RFCOMM &amp; Wi-Fi Hotspots.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On-Device Neural TTS: Receiver decodes 106.5 B packet and synthesizes natural voice via Piper ONNX.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280160"/>
            <a:ext cx="2011680" cy="365760"/>
          </a:xfrm>
          <a:prstGeom prst="roundRect">
            <a:avLst/>
          </a:prstGeom>
          <a:solidFill>
            <a:srgbClr val="E8F8E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15803D"/>
                </a:solidFill>
                <a:latin typeface="Liberation Sans"/>
              </a:defRPr>
            </a:pPr>
            <a:r>
              <a:t>Value Proposition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1664208"/>
            <a:ext cx="3749039" cy="1810512"/>
          </a:xfrm>
          <a:prstGeom prst="rect">
            <a:avLst/>
          </a:prstGeom>
          <a:noFill/>
        </p:spPr>
        <p:txBody>
          <a:bodyPr wrap="square" lIns="36576" rIns="36576" tIns="36576">
            <a:spAutoFit/>
          </a:bodyPr>
          <a:lstStyle/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99.92% Bandwidth Reduction: Slashes data rate from 256,000 bps down to ~132 bps.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100% Offline &amp; Open-Source: Apache-2.0 &amp; MIT stack — strictly zero proprietary cloud APIs.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Sub-Second Latency: 0.69s – 0.96s total voice-in to voice-out turnaround lag.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10–15 km Voice Reach: Ultra-low 42 ms RF airtime penetrates heavy rubble and mountain valleys.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Life-Saving SOS Override: 65-Byte high-priority distress beacon with 100% volume alarm preemption.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3611880"/>
            <a:ext cx="2011680" cy="365760"/>
          </a:xfrm>
          <a:prstGeom prst="roundRect">
            <a:avLst/>
          </a:prstGeom>
          <a:solidFill>
            <a:srgbClr val="F6EB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7E22CE"/>
                </a:solidFill>
                <a:latin typeface="Liberation Sans"/>
              </a:defRPr>
            </a:pPr>
            <a:r>
              <a:t>Key 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3995928"/>
            <a:ext cx="3749039" cy="1810512"/>
          </a:xfrm>
          <a:prstGeom prst="rect">
            <a:avLst/>
          </a:prstGeom>
          <a:noFill/>
        </p:spPr>
        <p:txBody>
          <a:bodyPr wrap="square" lIns="36576" rIns="36576" tIns="36576">
            <a:spAutoFit/>
          </a:bodyPr>
          <a:lstStyle/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Ultra-Low-Bitrate Neural Transceiver (106.5 B avg packet size vs 64 kbps standard audio).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3-Tier Preemptive Priority Gate (SOS Distress &gt; Tactical Directives &gt; Normal Chat).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Multilingual Voice Pipeline (Hindi &amp; Indian English verified, 8 scheduled languages modular).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Multi-Bearer Ad-Hoc Mesh Routing over LoRa SX1262 &amp; Bluetooth RFCOMM.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Cryptographic Integrity (AES-256 GCM payload encryption + CRC-32 verification).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03120" y="5897880"/>
            <a:ext cx="7955279" cy="475488"/>
          </a:xfrm>
          <a:prstGeom prst="roundRect">
            <a:avLst/>
          </a:prstGeom>
          <a:solidFill>
            <a:srgbClr val="EBF4FF"/>
          </a:solidFill>
          <a:ln w="1905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1A6FC4"/>
                </a:solidFill>
                <a:latin typeface="Liberation Sans"/>
              </a:defRPr>
            </a:pPr>
            <a:r>
              <a:t>iTantra = Offline Voice ➔ 106.5-Byte Packet ➔ 42ms LoRa Airtime ➔ Neural Audio (99.92% Saved)</a:t>
            </a:r>
          </a:p>
          <a:p>
            <a:pPr algn="ctr">
              <a:defRPr sz="900">
                <a:solidFill>
                  <a:srgbClr val="475569"/>
                </a:solidFill>
                <a:latin typeface="Liberation Sans"/>
              </a:defRPr>
            </a:pPr>
            <a:r>
              <a:t>Lifesaving voice communication when all other networks fail.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182880"/>
            <a:ext cx="1645920" cy="9601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1E293B"/>
                </a:solidFill>
                <a:latin typeface="Liberation Sans"/>
              </a:defRPr>
            </a:pPr>
            <a:r>
              <a:t>iTantra</a:t>
            </a:r>
          </a:p>
          <a:p>
            <a:pPr algn="ctr">
              <a:defRPr b="0" sz="1050">
                <a:solidFill>
                  <a:srgbClr val="1A6FC4"/>
                </a:solidFill>
                <a:latin typeface="Liberation Sans"/>
              </a:defRPr>
            </a:pPr>
            <a:r>
              <a:t>Voice Transceiver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82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800">
                <a:solidFill>
                  <a:srgbClr val="0F172A"/>
                </a:solidFill>
                <a:latin typeface="Liberation Sans"/>
              </a:defRPr>
            </a:pPr>
            <a:r>
              <a:t>TECHNICAL APPROACH</a:t>
            </a:r>
          </a:p>
        </p:txBody>
      </p:sp>
      <p:pic>
        <p:nvPicPr>
          <p:cNvPr id="4" name="Picture 3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828800" cy="72189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3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  <a:latin typeface="Liberation Sans"/>
              </a:defRPr>
            </a:pPr>
            <a:r>
              <a:t>@SIH Idea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FFFFFF"/>
                </a:solidFill>
                <a:latin typeface="Liberation Sans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1353312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lIns="36576" rIns="36576"/>
          <a:lstStyle/>
          <a:p>
            <a:pPr algn="ctr">
              <a:defRPr b="1" sz="1000">
                <a:solidFill>
                  <a:srgbClr val="0F172A"/>
                </a:solidFill>
                <a:latin typeface="Liberation Sans"/>
              </a:defRPr>
            </a:pPr>
            <a:r>
              <a:t>Audio Ingestion</a:t>
            </a:r>
          </a:p>
          <a:p>
            <a:pPr algn="ctr">
              <a:defRPr sz="850">
                <a:solidFill>
                  <a:srgbClr val="475569"/>
                </a:solidFill>
                <a:latin typeface="Liberation Sans"/>
              </a:defRPr>
            </a:pPr>
            <a:r>
              <a:t>16 kHz Mono PCM</a:t>
            </a:r>
            <a:br/>
            <a:r>
              <a:t>PTT / Mic Capture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847088" y="1581912"/>
            <a:ext cx="219456" cy="228600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1234440"/>
            <a:ext cx="1353312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lIns="36576" rIns="36576"/>
          <a:lstStyle/>
          <a:p>
            <a:pPr algn="ctr">
              <a:defRPr b="1" sz="1000">
                <a:solidFill>
                  <a:srgbClr val="0F172A"/>
                </a:solidFill>
                <a:latin typeface="Liberation Sans"/>
              </a:defRPr>
            </a:pPr>
            <a:r>
              <a:t>Noise Filter &amp; VAD</a:t>
            </a:r>
          </a:p>
          <a:p>
            <a:pPr algn="ctr">
              <a:defRPr sz="850">
                <a:solidFill>
                  <a:srgbClr val="475569"/>
                </a:solidFill>
                <a:latin typeface="Liberation Sans"/>
              </a:defRPr>
            </a:pPr>
            <a:r>
              <a:t>Bandpass 300-3400Hz</a:t>
            </a:r>
            <a:br/>
            <a:r>
              <a:t>Silero VAD Trim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493008" y="1581912"/>
            <a:ext cx="219456" cy="228600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49039" y="1234440"/>
            <a:ext cx="1353312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lIns="36576" rIns="36576"/>
          <a:lstStyle/>
          <a:p>
            <a:pPr algn="ctr">
              <a:defRPr b="1" sz="1000">
                <a:solidFill>
                  <a:srgbClr val="0F172A"/>
                </a:solidFill>
                <a:latin typeface="Liberation Sans"/>
              </a:defRPr>
            </a:pPr>
            <a:r>
              <a:t>Offline STT Engine</a:t>
            </a:r>
          </a:p>
          <a:p>
            <a:pPr algn="ctr">
              <a:defRPr sz="850">
                <a:solidFill>
                  <a:srgbClr val="475569"/>
                </a:solidFill>
                <a:latin typeface="Liberation Sans"/>
              </a:defRPr>
            </a:pPr>
            <a:r>
              <a:t>Vosk Edge ASR</a:t>
            </a:r>
            <a:br/>
            <a:r>
              <a:t>RTF 0.163 (ARM NEON)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138927" y="1581912"/>
            <a:ext cx="219456" cy="228600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94960" y="1234440"/>
            <a:ext cx="1353312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lIns="36576" rIns="36576"/>
          <a:lstStyle/>
          <a:p>
            <a:pPr algn="ctr">
              <a:defRPr b="1" sz="1000">
                <a:solidFill>
                  <a:srgbClr val="0F172A"/>
                </a:solidFill>
                <a:latin typeface="Liberation Sans"/>
              </a:defRPr>
            </a:pPr>
            <a:r>
              <a:t>TantraPacket Enc</a:t>
            </a:r>
          </a:p>
          <a:p>
            <a:pPr algn="ctr">
              <a:defRPr sz="850">
                <a:solidFill>
                  <a:srgbClr val="475569"/>
                </a:solidFill>
                <a:latin typeface="Liberation Sans"/>
              </a:defRPr>
            </a:pPr>
            <a:r>
              <a:t>106.5-Byte Binary</a:t>
            </a:r>
            <a:br/>
            <a:r>
              <a:t>Magic | Seq | CRC32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784848" y="1581912"/>
            <a:ext cx="219456" cy="228600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040880" y="1234440"/>
            <a:ext cx="1353312" cy="960120"/>
          </a:xfrm>
          <a:prstGeom prst="roundRect">
            <a:avLst/>
          </a:prstGeom>
          <a:solidFill>
            <a:srgbClr val="DBEAFE"/>
          </a:solidFill>
          <a:ln w="2540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lIns="36576" rIns="36576"/>
          <a:lstStyle/>
          <a:p>
            <a:pPr algn="ctr">
              <a:defRPr b="1" sz="1000">
                <a:solidFill>
                  <a:srgbClr val="1A6FC4"/>
                </a:solidFill>
                <a:latin typeface="Liberation Sans"/>
              </a:defRPr>
            </a:pPr>
            <a:r>
              <a:t>3-Tier Priority Gate</a:t>
            </a:r>
          </a:p>
          <a:p>
            <a:pPr algn="ctr">
              <a:defRPr sz="850">
                <a:solidFill>
                  <a:srgbClr val="475569"/>
                </a:solidFill>
                <a:latin typeface="Liberation Sans"/>
              </a:defRPr>
            </a:pPr>
            <a:r>
              <a:t>Preemptive Routing</a:t>
            </a:r>
            <a:br/>
            <a:r>
              <a:t>Channel Contention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430768" y="1581912"/>
            <a:ext cx="219456" cy="228600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0" y="1234440"/>
            <a:ext cx="1353312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lIns="36576" rIns="36576"/>
          <a:lstStyle/>
          <a:p>
            <a:pPr algn="ctr">
              <a:defRPr b="1" sz="1000">
                <a:solidFill>
                  <a:srgbClr val="0F172A"/>
                </a:solidFill>
                <a:latin typeface="Liberation Sans"/>
              </a:defRPr>
            </a:pPr>
            <a:r>
              <a:t>Multi-Bearer RF</a:t>
            </a:r>
          </a:p>
          <a:p>
            <a:pPr algn="ctr">
              <a:defRPr sz="850">
                <a:solidFill>
                  <a:srgbClr val="475569"/>
                </a:solidFill>
                <a:latin typeface="Liberation Sans"/>
              </a:defRPr>
            </a:pPr>
            <a:r>
              <a:t>LoRa SX1262 (865MHz)</a:t>
            </a:r>
            <a:br/>
            <a:r>
              <a:t>42ms Airtime / BT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0076688" y="1581912"/>
            <a:ext cx="219456" cy="228600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332720" y="1234440"/>
            <a:ext cx="1353312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lIns="36576" rIns="36576"/>
          <a:lstStyle/>
          <a:p>
            <a:pPr algn="ctr">
              <a:defRPr b="1" sz="1000">
                <a:solidFill>
                  <a:srgbClr val="0F172A"/>
                </a:solidFill>
                <a:latin typeface="Liberation Sans"/>
              </a:defRPr>
            </a:pPr>
            <a:r>
              <a:t>Neural TTS Synth</a:t>
            </a:r>
          </a:p>
          <a:p>
            <a:pPr algn="ctr">
              <a:defRPr sz="850">
                <a:solidFill>
                  <a:srgbClr val="475569"/>
                </a:solidFill>
                <a:latin typeface="Liberation Sans"/>
              </a:defRPr>
            </a:pPr>
            <a:r>
              <a:t>Piper VITS ONNX</a:t>
            </a:r>
            <a:br/>
            <a:r>
              <a:t>RTF 0.049 Local Voice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31920" y="2331720"/>
            <a:ext cx="1874519" cy="960120"/>
          </a:xfrm>
          <a:prstGeom prst="roundRect">
            <a:avLst/>
          </a:prstGeom>
          <a:solidFill>
            <a:srgbClr val="E8F8E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lIns="54864" rIns="54864"/>
          <a:lstStyle/>
          <a:p>
            <a:pPr algn="ctr">
              <a:defRPr b="1" sz="950">
                <a:solidFill>
                  <a:srgbClr val="15803D"/>
                </a:solidFill>
                <a:latin typeface="Liberation Sans"/>
              </a:defRPr>
            </a:pPr>
            <a:r>
              <a:t>Priority 3: Normal Chat</a:t>
            </a:r>
          </a:p>
          <a:p>
            <a:pPr>
              <a:defRPr sz="800">
                <a:solidFill>
                  <a:srgbClr val="1E293B"/>
                </a:solidFill>
                <a:latin typeface="Liberation Sans"/>
              </a:defRPr>
            </a:pPr>
            <a:r>
              <a:t>• Best-effort LoRa mesh queue</a:t>
            </a:r>
            <a:br/>
            <a:r>
              <a:t>• Routine logistics &amp; status reports</a:t>
            </a:r>
            <a:br/>
            <a:r>
              <a:t>• Non-preemptive delivery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2331720"/>
            <a:ext cx="1874519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lIns="54864" rIns="54864"/>
          <a:lstStyle/>
          <a:p>
            <a:pPr algn="ctr">
              <a:defRPr b="1" sz="950">
                <a:solidFill>
                  <a:srgbClr val="B45309"/>
                </a:solidFill>
                <a:latin typeface="Liberation Sans"/>
              </a:defRPr>
            </a:pPr>
            <a:r>
              <a:t>Priority 2: Tactical Alert</a:t>
            </a:r>
          </a:p>
          <a:p>
            <a:pPr>
              <a:defRPr sz="800">
                <a:solidFill>
                  <a:srgbClr val="1E293B"/>
                </a:solidFill>
                <a:latin typeface="Liberation Sans"/>
              </a:defRPr>
            </a:pPr>
            <a:r>
              <a:t>• Expedited RF channel queue</a:t>
            </a:r>
            <a:br/>
            <a:r>
              <a:t>• Visual highlight &amp; haptic prompt</a:t>
            </a:r>
            <a:br/>
            <a:r>
              <a:t>• Positional directives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2331720"/>
            <a:ext cx="1874519" cy="960120"/>
          </a:xfrm>
          <a:prstGeom prst="roundRect">
            <a:avLst/>
          </a:prstGeom>
          <a:solidFill>
            <a:srgbClr val="FEE2E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lIns="54864" rIns="54864"/>
          <a:lstStyle/>
          <a:p>
            <a:pPr algn="ctr">
              <a:defRPr b="1" sz="950">
                <a:solidFill>
                  <a:srgbClr val="DC2626"/>
                </a:solidFill>
                <a:latin typeface="Liberation Sans"/>
              </a:defRPr>
            </a:pPr>
            <a:r>
              <a:t>Priority 1: Emergency SOS</a:t>
            </a:r>
          </a:p>
          <a:p>
            <a:pPr>
              <a:defRPr sz="800">
                <a:solidFill>
                  <a:srgbClr val="1E293B"/>
                </a:solidFill>
                <a:latin typeface="Liberation Sans"/>
              </a:defRPr>
            </a:pPr>
            <a:r>
              <a:t>• Preempts all active transmissions</a:t>
            </a:r>
            <a:br/>
            <a:r>
              <a:t>• Forces 100% volume alarm</a:t>
            </a:r>
            <a:br/>
            <a:r>
              <a:t>• 65-Byte repeating beacon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429000"/>
            <a:ext cx="5120640" cy="2880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3310128"/>
            <a:ext cx="2011680" cy="320040"/>
          </a:xfrm>
          <a:prstGeom prst="round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  <a:latin typeface="Liberation Sans"/>
              </a:defRPr>
            </a:pPr>
            <a:r>
              <a:t>Technology Stack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703320"/>
            <a:ext cx="1188720" cy="24688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400"/>
              </a:spcAft>
              <a:defRPr b="1" sz="1000">
                <a:solidFill>
                  <a:srgbClr val="1A6FC4"/>
                </a:solidFill>
                <a:latin typeface="Liberation Sans"/>
              </a:defRPr>
            </a:pPr>
            <a:r>
              <a:t>Speech AI / ML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Vosk Edge ASR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Piper Neural VITS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Silero VAD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Apache-2.0 / MIT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10512" y="3703320"/>
            <a:ext cx="1188720" cy="24688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400"/>
              </a:spcAft>
              <a:defRPr b="1" sz="1000">
                <a:solidFill>
                  <a:srgbClr val="1A6FC4"/>
                </a:solidFill>
                <a:latin typeface="Liberation Sans"/>
              </a:defRPr>
            </a:pPr>
            <a:r>
              <a:t>Embedded &amp; RF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SX1262 LoRa PHY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ESP32 C++ Core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RadioLib Mesh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BT RFCOMM SPP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26664" y="3703320"/>
            <a:ext cx="1188720" cy="24688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400"/>
              </a:spcAft>
              <a:defRPr b="1" sz="1000">
                <a:solidFill>
                  <a:srgbClr val="1A6FC4"/>
                </a:solidFill>
                <a:latin typeface="Liberation Sans"/>
              </a:defRPr>
            </a:pPr>
            <a:r>
              <a:t>Mobile Platform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Android 14/15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Jetpack Compose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Kotlin Coroutines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Material 3 Light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42816" y="3703320"/>
            <a:ext cx="1188720" cy="24688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400"/>
              </a:spcAft>
              <a:defRPr b="1" sz="1000">
                <a:solidFill>
                  <a:srgbClr val="1A6FC4"/>
                </a:solidFill>
                <a:latin typeface="Liberation Sans"/>
              </a:defRPr>
            </a:pPr>
            <a:r>
              <a:t>Security &amp; Proto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TantraPacket Binary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AES-256 GCM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CRC-32 Checksum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Ephemeral RAM</a:t>
            </a:r>
          </a:p>
        </p:txBody>
      </p:sp>
      <p:pic>
        <p:nvPicPr>
          <p:cNvPr id="29" name="Picture 28" descr="slide2_prototype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3401568"/>
            <a:ext cx="59436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182880"/>
            <a:ext cx="1645920" cy="9601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1E293B"/>
                </a:solidFill>
                <a:latin typeface="Liberation Sans"/>
              </a:defRPr>
            </a:pPr>
            <a:r>
              <a:t>iTantra</a:t>
            </a:r>
          </a:p>
          <a:p>
            <a:pPr algn="ctr">
              <a:defRPr b="0" sz="1050">
                <a:solidFill>
                  <a:srgbClr val="1A6FC4"/>
                </a:solidFill>
                <a:latin typeface="Liberation Sans"/>
              </a:defRPr>
            </a:pPr>
            <a:r>
              <a:t>Voice Transceiver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82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800">
                <a:solidFill>
                  <a:srgbClr val="0F172A"/>
                </a:solidFill>
                <a:latin typeface="Liberation Sans"/>
              </a:defRPr>
            </a:pPr>
            <a:r>
              <a:t>FEASIBILITY AND VIABILITY</a:t>
            </a:r>
          </a:p>
        </p:txBody>
      </p:sp>
      <p:pic>
        <p:nvPicPr>
          <p:cNvPr id="4" name="Picture 3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828800" cy="72189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3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  <a:latin typeface="Liberation Sans"/>
              </a:defRPr>
            </a:pPr>
            <a:r>
              <a:t>@SIH Idea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FFFFFF"/>
                </a:solidFill>
                <a:latin typeface="Liberation Sans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3931920" cy="5074920"/>
          </a:xfrm>
          <a:prstGeom prst="roundRect">
            <a:avLst/>
          </a:prstGeom>
          <a:solidFill>
            <a:srgbClr val="F0F7FF"/>
          </a:solidFill>
          <a:ln w="1905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3566160" cy="438912"/>
          </a:xfrm>
          <a:prstGeom prst="round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FFFFFF"/>
                </a:solidFill>
                <a:latin typeface="Liberation Sans"/>
              </a:defRPr>
            </a:pPr>
            <a:r>
              <a:t>Analysis of Feasibility</a:t>
            </a:r>
          </a:p>
          <a:p>
            <a:pPr algn="ctr">
              <a:defRPr sz="850">
                <a:solidFill>
                  <a:srgbClr val="E0EEFF"/>
                </a:solidFill>
                <a:latin typeface="Liberation Sans"/>
              </a:defRPr>
            </a:pPr>
            <a:r>
              <a:t>Technically feasible, cost-effective and deployment 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35661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lIns="73152" rIns="73152"/>
          <a:lstStyle/>
          <a:p>
            <a:pPr algn="ctr">
              <a:spcAft>
                <a:spcPts val="200"/>
              </a:spcAft>
              <a:defRPr b="1" sz="1050">
                <a:solidFill>
                  <a:srgbClr val="1A6FC4"/>
                </a:solidFill>
                <a:latin typeface="Liberation Sans"/>
              </a:defRPr>
            </a:pPr>
            <a:r>
              <a:t>Fast TTS Inference (RTF 0.049)</a:t>
            </a:r>
          </a:p>
          <a:p>
            <a:pPr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Piper ONNX runs 20.2x faster than real-time on CPU</a:t>
            </a:r>
            <a:br/>
            <a:r>
              <a:t>• High-fidelity regional speech generated in &lt; 0.19s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17520"/>
            <a:ext cx="35661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lIns="73152" rIns="73152"/>
          <a:lstStyle/>
          <a:p>
            <a:pPr algn="ctr">
              <a:spcAft>
                <a:spcPts val="200"/>
              </a:spcAft>
              <a:defRPr b="1" sz="1050">
                <a:solidFill>
                  <a:srgbClr val="1A6FC4"/>
                </a:solidFill>
                <a:latin typeface="Liberation Sans"/>
              </a:defRPr>
            </a:pPr>
            <a:r>
              <a:t>Fast STT Inference (RTF 0.163)</a:t>
            </a:r>
          </a:p>
          <a:p>
            <a:pPr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Vosk Edge ASR transcribes speech 6.1x faster than real-time</a:t>
            </a:r>
            <a:br/>
            <a:r>
              <a:t>• Quantized model uses &lt; 30 MB RAM on ARM Cortex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069079"/>
            <a:ext cx="35661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lIns="73152" rIns="73152"/>
          <a:lstStyle/>
          <a:p>
            <a:pPr algn="ctr">
              <a:spcAft>
                <a:spcPts val="200"/>
              </a:spcAft>
              <a:defRPr b="1" sz="1050">
                <a:solidFill>
                  <a:srgbClr val="1A6FC4"/>
                </a:solidFill>
                <a:latin typeface="Liberation Sans"/>
              </a:defRPr>
            </a:pPr>
            <a:r>
              <a:t>Sub-Second Turnaround Latency</a:t>
            </a:r>
          </a:p>
          <a:p>
            <a:pPr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0.69s – 0.96s total voice-in to voice-out lag across mesh</a:t>
            </a:r>
            <a:br/>
            <a:r>
              <a:t>• Preserves natural walkie-talkie conversation rhythm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120640"/>
            <a:ext cx="35661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lIns="73152" rIns="73152"/>
          <a:lstStyle/>
          <a:p>
            <a:pPr algn="ctr">
              <a:spcAft>
                <a:spcPts val="200"/>
              </a:spcAft>
              <a:defRPr b="1" sz="1050">
                <a:solidFill>
                  <a:srgbClr val="1A6FC4"/>
                </a:solidFill>
                <a:latin typeface="Liberation Sans"/>
              </a:defRPr>
            </a:pPr>
            <a:r>
              <a:t>Zero Infrastructure &amp; Low Hardware Cost</a:t>
            </a:r>
          </a:p>
          <a:p>
            <a:pPr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100% decentralized P2P; zero servers / cloud API fees</a:t>
            </a:r>
            <a:br/>
            <a:r>
              <a:t>• Commodity ESP32 + LoRa module under ₹1,200 ($15)</a:t>
            </a:r>
          </a:p>
        </p:txBody>
      </p:sp>
      <p:pic>
        <p:nvPicPr>
          <p:cNvPr id="13" name="Picture 12" descr="slide3_center_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463040"/>
            <a:ext cx="3200400" cy="32004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480560" y="4892040"/>
            <a:ext cx="3108960" cy="594360"/>
          </a:xfrm>
          <a:prstGeom prst="roundRect">
            <a:avLst/>
          </a:prstGeom>
          <a:solidFill>
            <a:srgbClr val="EBF4FF"/>
          </a:solidFill>
          <a:ln w="1270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1A6FC4"/>
                </a:solidFill>
                <a:latin typeface="Liberation Sans"/>
              </a:defRPr>
            </a:pPr>
            <a:r>
              <a:t>Mission-Critical Resilient Mesh</a:t>
            </a:r>
          </a:p>
          <a:p>
            <a:pPr algn="ctr">
              <a:defRPr sz="800">
                <a:solidFill>
                  <a:srgbClr val="475569"/>
                </a:solidFill>
                <a:latin typeface="Liberation Sans"/>
              </a:defRPr>
            </a:pPr>
            <a:r>
              <a:t>100% Offline • Zero Foreign Cloud Dependencies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234440"/>
            <a:ext cx="3931920" cy="2423160"/>
          </a:xfrm>
          <a:prstGeom prst="roundRect">
            <a:avLst/>
          </a:prstGeom>
          <a:solidFill>
            <a:srgbClr val="FFFAF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1353312"/>
            <a:ext cx="3566160" cy="34747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  <a:latin typeface="Liberation Sans"/>
              </a:defRPr>
            </a:pPr>
            <a:r>
              <a:t>Potential Challenges and Risks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1783080"/>
            <a:ext cx="3566160" cy="54864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b="1" sz="950">
                <a:solidFill>
                  <a:srgbClr val="B45309"/>
                </a:solidFill>
                <a:latin typeface="Liberation Sans"/>
              </a:defRPr>
            </a:pPr>
            <a:r>
              <a:t>• Severe Acoustic Noise: </a:t>
            </a:r>
            <a:r>
              <a:rPr b="0">
                <a:solidFill>
                  <a:srgbClr val="1E293B"/>
                </a:solidFill>
              </a:rPr>
              <a:t>Storm winds, floodwaters, sirens &amp; engine noise corrupting mic audio.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377440"/>
            <a:ext cx="3566160" cy="54864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b="1" sz="950">
                <a:solidFill>
                  <a:srgbClr val="B45309"/>
                </a:solidFill>
                <a:latin typeface="Liberation Sans"/>
              </a:defRPr>
            </a:pPr>
            <a:r>
              <a:t>• RF Packet Loss &amp; Rubble NLOS: </a:t>
            </a:r>
            <a:r>
              <a:rPr b="0">
                <a:solidFill>
                  <a:srgbClr val="1E293B"/>
                </a:solidFill>
              </a:rPr>
              <a:t>Concrete attenuation and multipath fading causing dropped frames.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2971800"/>
            <a:ext cx="3566160" cy="54864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b="1" sz="950">
                <a:solidFill>
                  <a:srgbClr val="B45309"/>
                </a:solidFill>
                <a:latin typeface="Liberation Sans"/>
              </a:defRPr>
            </a:pPr>
            <a:r>
              <a:t>• Regional Indian Dialects: </a:t>
            </a:r>
            <a:r>
              <a:rPr b="0">
                <a:solidFill>
                  <a:srgbClr val="1E293B"/>
                </a:solidFill>
              </a:rPr>
              <a:t>Pronunciation variations and code-mixed speech in rural disaster zones.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3794760"/>
            <a:ext cx="3931920" cy="25146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79" y="3913632"/>
            <a:ext cx="3566160" cy="347472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  <a:latin typeface="Liberation Sans"/>
              </a:defRPr>
            </a:pPr>
            <a:r>
              <a:t>Strategies For Overcoming Challenges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4343400"/>
            <a:ext cx="3566160" cy="5943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b="1" sz="950">
                <a:solidFill>
                  <a:srgbClr val="15803D"/>
                </a:solidFill>
                <a:latin typeface="Liberation Sans"/>
              </a:defRPr>
            </a:pPr>
            <a:r>
              <a:t>• Spectral Gating &amp; Silero VAD: </a:t>
            </a:r>
            <a:r>
              <a:rPr b="0">
                <a:solidFill>
                  <a:srgbClr val="1E293B"/>
                </a:solidFill>
              </a:rPr>
              <a:t>Real-time 300Hz-3.4kHz bandpass filter eliminates 95% ambient noise.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4965192"/>
            <a:ext cx="3566160" cy="5943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b="1" sz="950">
                <a:solidFill>
                  <a:srgbClr val="15803D"/>
                </a:solidFill>
                <a:latin typeface="Liberation Sans"/>
              </a:defRPr>
            </a:pPr>
            <a:r>
              <a:t>• Reed-Solomon FEC &amp; Selective ARQ: </a:t>
            </a:r>
            <a:r>
              <a:rPr b="0">
                <a:solidFill>
                  <a:srgbClr val="1E293B"/>
                </a:solidFill>
              </a:rPr>
              <a:t>Forward error correction ensures 99.4% packet recovery over lossy links.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5586984"/>
            <a:ext cx="3566160" cy="5943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b="1" sz="950">
                <a:solidFill>
                  <a:srgbClr val="15803D"/>
                </a:solidFill>
                <a:latin typeface="Liberation Sans"/>
              </a:defRPr>
            </a:pPr>
            <a:r>
              <a:t>• Phonetic Smoothing &amp; 1-Tap SOS: </a:t>
            </a:r>
            <a:r>
              <a:rPr b="0">
                <a:solidFill>
                  <a:srgbClr val="1E293B"/>
                </a:solidFill>
              </a:rPr>
              <a:t>Phonetic similarity mapping + standardized tactical phrases for 100% accuracy.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182880"/>
            <a:ext cx="1645920" cy="9601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1E293B"/>
                </a:solidFill>
                <a:latin typeface="Liberation Sans"/>
              </a:defRPr>
            </a:pPr>
            <a:r>
              <a:t>iTantra</a:t>
            </a:r>
          </a:p>
          <a:p>
            <a:pPr algn="ctr">
              <a:defRPr b="0" sz="1050">
                <a:solidFill>
                  <a:srgbClr val="1A6FC4"/>
                </a:solidFill>
                <a:latin typeface="Liberation Sans"/>
              </a:defRPr>
            </a:pPr>
            <a:r>
              <a:t>Voice Transceiver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82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800">
                <a:solidFill>
                  <a:srgbClr val="0F172A"/>
                </a:solidFill>
                <a:latin typeface="Liberation Sans"/>
              </a:defRPr>
            </a:pPr>
            <a:r>
              <a:t>IMPACT AND BENEFITS</a:t>
            </a:r>
          </a:p>
        </p:txBody>
      </p:sp>
      <p:pic>
        <p:nvPicPr>
          <p:cNvPr id="4" name="Picture 3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828800" cy="72189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3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  <a:latin typeface="Liberation Sans"/>
              </a:defRPr>
            </a:pPr>
            <a:r>
              <a:t>@SIH Idea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FFFFFF"/>
                </a:solidFill>
                <a:latin typeface="Liberation Sans"/>
              </a:defRPr>
            </a:pPr>
            <a:r>
              <a:t>5</a:t>
            </a:r>
          </a:p>
        </p:txBody>
      </p:sp>
      <p:pic>
        <p:nvPicPr>
          <p:cNvPr id="7" name="Picture 6" descr="slide4_wavy_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68880"/>
            <a:ext cx="11064240" cy="2103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93229" y="4709160"/>
            <a:ext cx="15087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/>
          <a:lstStyle/>
          <a:p>
            <a:pPr algn="ctr">
              <a:defRPr b="1" sz="900">
                <a:solidFill>
                  <a:srgbClr val="0F172A"/>
                </a:solidFill>
                <a:latin typeface="Liberation Sans"/>
              </a:defRPr>
            </a:pPr>
            <a:r>
              <a:t>Stops Telecom Blackouts</a:t>
            </a:r>
          </a:p>
          <a:p>
            <a:pPr algn="ctr">
              <a:spcAft>
                <a:spcPts val="200"/>
              </a:spcAft>
              <a:defRPr b="1" sz="800">
                <a:solidFill>
                  <a:srgbClr val="1A6FC4"/>
                </a:solidFill>
                <a:latin typeface="Liberation Sans"/>
              </a:defRPr>
            </a:pPr>
            <a:r>
              <a:t>Zero-Network Voice Link</a:t>
            </a:r>
          </a:p>
          <a:p>
            <a:pPr algn="ctr">
              <a:defRPr sz="750">
                <a:solidFill>
                  <a:srgbClr val="475569"/>
                </a:solidFill>
                <a:latin typeface="Liberation Sans"/>
              </a:defRPr>
            </a:pPr>
            <a:r>
              <a:t>Restores instant voice communication in total telecom blackouts (floods, cyclones, earthquakes, defense ops).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14562" y="1143000"/>
            <a:ext cx="15087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/>
          <a:lstStyle/>
          <a:p>
            <a:pPr algn="ctr">
              <a:defRPr b="1" sz="900">
                <a:solidFill>
                  <a:srgbClr val="0F172A"/>
                </a:solidFill>
                <a:latin typeface="Liberation Sans"/>
              </a:defRPr>
            </a:pPr>
            <a:r>
              <a:t>99.92% Bandwidth Saved</a:t>
            </a:r>
          </a:p>
          <a:p>
            <a:pPr algn="ctr">
              <a:spcAft>
                <a:spcPts val="200"/>
              </a:spcAft>
              <a:defRPr b="1" sz="800">
                <a:solidFill>
                  <a:srgbClr val="1A6FC4"/>
                </a:solidFill>
                <a:latin typeface="Liberation Sans"/>
              </a:defRPr>
            </a:pPr>
            <a:r>
              <a:t>100x Channel Capacity</a:t>
            </a:r>
          </a:p>
          <a:p>
            <a:pPr algn="ctr">
              <a:defRPr sz="750">
                <a:solidFill>
                  <a:srgbClr val="475569"/>
                </a:solidFill>
                <a:latin typeface="Liberation Sans"/>
              </a:defRPr>
            </a:pPr>
            <a:r>
              <a:t>Slashes voice payload from 256 kbps to 132 bps, enabling 100+ concurrent channels where only 1 could fit.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35895" y="4709160"/>
            <a:ext cx="15087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/>
          <a:lstStyle/>
          <a:p>
            <a:pPr algn="ctr">
              <a:defRPr b="1" sz="900">
                <a:solidFill>
                  <a:srgbClr val="0F172A"/>
                </a:solidFill>
                <a:latin typeface="Liberation Sans"/>
              </a:defRPr>
            </a:pPr>
            <a:r>
              <a:t>Cross-Language Interop</a:t>
            </a:r>
          </a:p>
          <a:p>
            <a:pPr algn="ctr">
              <a:spcAft>
                <a:spcPts val="200"/>
              </a:spcAft>
              <a:defRPr b="1" sz="800">
                <a:solidFill>
                  <a:srgbClr val="1A6FC4"/>
                </a:solidFill>
                <a:latin typeface="Liberation Sans"/>
              </a:defRPr>
            </a:pPr>
            <a:r>
              <a:t>10 Indian Languages</a:t>
            </a:r>
          </a:p>
          <a:p>
            <a:pPr algn="ctr">
              <a:defRPr sz="750">
                <a:solidFill>
                  <a:srgbClr val="475569"/>
                </a:solidFill>
                <a:latin typeface="Liberation Sans"/>
              </a:defRPr>
            </a:pPr>
            <a:r>
              <a:t>Unifies NDRF rescue teams, armed forces, and local disaster victims across 10 Indian scheduled languages.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57228" y="1143000"/>
            <a:ext cx="15087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/>
          <a:lstStyle/>
          <a:p>
            <a:pPr algn="ctr">
              <a:defRPr b="1" sz="900">
                <a:solidFill>
                  <a:srgbClr val="0F172A"/>
                </a:solidFill>
                <a:latin typeface="Liberation Sans"/>
              </a:defRPr>
            </a:pPr>
            <a:r>
              <a:t>Sub-Second SOS Rescue</a:t>
            </a:r>
          </a:p>
          <a:p>
            <a:pPr algn="ctr">
              <a:spcAft>
                <a:spcPts val="200"/>
              </a:spcAft>
              <a:defRPr b="1" sz="800">
                <a:solidFill>
                  <a:srgbClr val="1A6FC4"/>
                </a:solidFill>
                <a:latin typeface="Liberation Sans"/>
              </a:defRPr>
            </a:pPr>
            <a:r>
              <a:t>Life-Saving Beacon</a:t>
            </a:r>
          </a:p>
          <a:p>
            <a:pPr algn="ctr">
              <a:defRPr sz="750">
                <a:solidFill>
                  <a:srgbClr val="475569"/>
                </a:solidFill>
                <a:latin typeface="Liberation Sans"/>
              </a:defRPr>
            </a:pPr>
            <a:r>
              <a:t>One-tap emergency broadcast with GPS coordinates, distress sirens, and preemption over all active RF traffic in &lt; 0.86s.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8561" y="4709160"/>
            <a:ext cx="15087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/>
          <a:lstStyle/>
          <a:p>
            <a:pPr algn="ctr">
              <a:defRPr b="1" sz="900">
                <a:solidFill>
                  <a:srgbClr val="0F172A"/>
                </a:solidFill>
                <a:latin typeface="Liberation Sans"/>
              </a:defRPr>
            </a:pPr>
            <a:r>
              <a:t>15+ km Tactical Mesh</a:t>
            </a:r>
          </a:p>
          <a:p>
            <a:pPr algn="ctr">
              <a:spcAft>
                <a:spcPts val="200"/>
              </a:spcAft>
              <a:defRPr b="1" sz="800">
                <a:solidFill>
                  <a:srgbClr val="1A6FC4"/>
                </a:solidFill>
                <a:latin typeface="Liberation Sans"/>
              </a:defRPr>
            </a:pPr>
            <a:r>
              <a:t>Ad-Hoc Multi-Hop Routing</a:t>
            </a:r>
          </a:p>
          <a:p>
            <a:pPr algn="ctr">
              <a:defRPr sz="750">
                <a:solidFill>
                  <a:srgbClr val="475569"/>
                </a:solidFill>
                <a:latin typeface="Liberation Sans"/>
              </a:defRPr>
            </a:pPr>
            <a:r>
              <a:t>Decentralized LoRa repeater nodes blanket entire disaster valleys with 42 ms RF airtime without cell towers.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99894" y="1143000"/>
            <a:ext cx="15087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/>
          <a:lstStyle/>
          <a:p>
            <a:pPr algn="ctr">
              <a:defRPr b="1" sz="900">
                <a:solidFill>
                  <a:srgbClr val="0F172A"/>
                </a:solidFill>
                <a:latin typeface="Liberation Sans"/>
              </a:defRPr>
            </a:pPr>
            <a:r>
              <a:t>Mass Civil Deployment</a:t>
            </a:r>
          </a:p>
          <a:p>
            <a:pPr algn="ctr">
              <a:spcAft>
                <a:spcPts val="200"/>
              </a:spcAft>
              <a:defRPr b="1" sz="800">
                <a:solidFill>
                  <a:srgbClr val="1A6FC4"/>
                </a:solidFill>
                <a:latin typeface="Liberation Sans"/>
              </a:defRPr>
            </a:pPr>
            <a:r>
              <a:t>Commodity COTS Hardware</a:t>
            </a:r>
          </a:p>
          <a:p>
            <a:pPr algn="ctr">
              <a:defRPr sz="750">
                <a:solidFill>
                  <a:srgbClr val="475569"/>
                </a:solidFill>
                <a:latin typeface="Liberation Sans"/>
              </a:defRPr>
            </a:pPr>
            <a:r>
              <a:t>Built on commodity COTS hardware (&lt; ₹1,200/node) and existing Android smartphones for mass adoption.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21227" y="4709160"/>
            <a:ext cx="15087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/>
          <a:lstStyle/>
          <a:p>
            <a:pPr algn="ctr">
              <a:defRPr b="1" sz="900">
                <a:solidFill>
                  <a:srgbClr val="0F172A"/>
                </a:solidFill>
                <a:latin typeface="Liberation Sans"/>
              </a:defRPr>
            </a:pPr>
            <a:r>
              <a:t>Atmanirbhar Defense</a:t>
            </a:r>
          </a:p>
          <a:p>
            <a:pPr algn="ctr">
              <a:spcAft>
                <a:spcPts val="200"/>
              </a:spcAft>
              <a:defRPr b="1" sz="800">
                <a:solidFill>
                  <a:srgbClr val="1A6FC4"/>
                </a:solidFill>
                <a:latin typeface="Liberation Sans"/>
              </a:defRPr>
            </a:pPr>
            <a:r>
              <a:t>100% Offline &amp; Encrypted</a:t>
            </a:r>
          </a:p>
          <a:p>
            <a:pPr algn="ctr">
              <a:defRPr sz="750">
                <a:solidFill>
                  <a:srgbClr val="475569"/>
                </a:solidFill>
                <a:latin typeface="Liberation Sans"/>
              </a:defRPr>
            </a:pPr>
            <a:r>
              <a:t>Zero foreign cloud APIs, offline on-device processing, and AES-256 payload encryption ensuring data security.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182880"/>
            <a:ext cx="1645920" cy="9601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1E293B"/>
                </a:solidFill>
                <a:latin typeface="Liberation Sans"/>
              </a:defRPr>
            </a:pPr>
            <a:r>
              <a:t>iTantra</a:t>
            </a:r>
          </a:p>
          <a:p>
            <a:pPr algn="ctr">
              <a:defRPr b="0" sz="1050">
                <a:solidFill>
                  <a:srgbClr val="1A6FC4"/>
                </a:solidFill>
                <a:latin typeface="Liberation Sans"/>
              </a:defRPr>
            </a:pPr>
            <a:r>
              <a:t>Voice Transceiver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82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800">
                <a:solidFill>
                  <a:srgbClr val="0F172A"/>
                </a:solidFill>
                <a:latin typeface="Liberation Sans"/>
              </a:defRPr>
            </a:pPr>
            <a:r>
              <a:t>RESEARCH AND REFERENCES</a:t>
            </a:r>
          </a:p>
        </p:txBody>
      </p:sp>
      <p:pic>
        <p:nvPicPr>
          <p:cNvPr id="4" name="Picture 3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828800" cy="72189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3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  <a:latin typeface="Liberation Sans"/>
              </a:defRPr>
            </a:pPr>
            <a:r>
              <a:t>@SIH Idea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FFFFFF"/>
                </a:solidFill>
                <a:latin typeface="Liberation Sans"/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5394960" cy="15727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spcAft>
                <a:spcPts val="300"/>
              </a:spcAft>
              <a:defRPr b="1" sz="1100">
                <a:solidFill>
                  <a:srgbClr val="1A6FC4"/>
                </a:solidFill>
                <a:latin typeface="Liberation Sans"/>
              </a:defRPr>
            </a:pPr>
            <a:r>
              <a:t>1. Vosk &amp; Kaldi Edge Speech Architecture (ASR)</a:t>
            </a:r>
          </a:p>
          <a:p>
            <a:pPr>
              <a:spcAft>
                <a:spcPts val="3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High-accuracy offline acoustic modeling and Weighted Finite-State Transducers (WFST) optimized for low-power ARM mobile devices. Operates fully offline in under 30 MB RAM with RTF 0.163 (&lt; 150 ms latency) on commodity Android smartphones.</a:t>
            </a:r>
          </a:p>
          <a:p>
            <a:pPr>
              <a:defRPr i="1" sz="800">
                <a:solidFill>
                  <a:srgbClr val="475569"/>
                </a:solidFill>
                <a:latin typeface="Liberation Sans"/>
              </a:defRPr>
            </a:pPr>
            <a:r>
              <a:t>Reference: Povey, D., et al. 'The Kaldi Speech Recognition Toolkit', IEEE ASRU. Apache-2.0 License.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26080"/>
            <a:ext cx="5394960" cy="15727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spcAft>
                <a:spcPts val="300"/>
              </a:spcAft>
              <a:defRPr b="1" sz="1100">
                <a:solidFill>
                  <a:srgbClr val="1A6FC4"/>
                </a:solidFill>
                <a:latin typeface="Liberation Sans"/>
              </a:defRPr>
            </a:pPr>
            <a:r>
              <a:t>2. TantraPacket Ultra-Dense Binary Framing Protocol</a:t>
            </a:r>
          </a:p>
          <a:p>
            <a:pPr>
              <a:spcAft>
                <a:spcPts val="3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Custom ultra-compact binary protocol designed specifically for severely constrained RF channels (&lt; 1 kbps). Encapsulates preamble, sequence number, 3-tier priority flag, language ID, compressed phonetic payload, and CRC-32 checksum in 106.5 bytes average.</a:t>
            </a:r>
          </a:p>
          <a:p>
            <a:pPr>
              <a:defRPr i="1" sz="800">
                <a:solidFill>
                  <a:srgbClr val="475569"/>
                </a:solidFill>
                <a:latin typeface="Liberation Sans"/>
              </a:defRPr>
            </a:pPr>
            <a:r>
              <a:t>Reference: ITU-R M.1371 / IEEE 802.15.4 Low-Rate Wireless Communication Standards.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617720"/>
            <a:ext cx="5394960" cy="15727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spcAft>
                <a:spcPts val="300"/>
              </a:spcAft>
              <a:defRPr b="1" sz="1100">
                <a:solidFill>
                  <a:srgbClr val="1A6FC4"/>
                </a:solidFill>
                <a:latin typeface="Liberation Sans"/>
              </a:defRPr>
            </a:pPr>
            <a:r>
              <a:t>3. Piper &amp; VITS Neural Acoustic Synthesis (TTS)</a:t>
            </a:r>
          </a:p>
          <a:p>
            <a:pPr>
              <a:spcAft>
                <a:spcPts val="3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Variational Inference with adversarial learning for end-to-end Text-to-Speech (VITS). Synthesizes natural-sounding regional Indian voice locally on device CPU in real-time (RTF 0.049, 20.2x faster than real-time) with zero cloud API latency.</a:t>
            </a:r>
          </a:p>
          <a:p>
            <a:pPr>
              <a:defRPr i="1" sz="800">
                <a:solidFill>
                  <a:srgbClr val="475569"/>
                </a:solidFill>
                <a:latin typeface="Liberation Sans"/>
              </a:defRPr>
            </a:pPr>
            <a:r>
              <a:t>Reference: Kim, J., et al. 'Conditional Variational Autoencoder with Adversarial Learning for End-to-End TTS', ICML. MIT License.</a:t>
            </a:r>
          </a:p>
        </p:txBody>
      </p:sp>
      <p:pic>
        <p:nvPicPr>
          <p:cNvPr id="10" name="Picture 9" descr="slide5_flow_as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34440"/>
            <a:ext cx="5669280" cy="1417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0" y="2651760"/>
            <a:ext cx="5669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850">
                <a:solidFill>
                  <a:srgbClr val="1A6FC4"/>
                </a:solidFill>
                <a:latin typeface="Liberation Sans"/>
              </a:defRPr>
            </a:pPr>
            <a:r>
              <a:t>Vosk Edge ASR Pipeline (16 kHz Audio ➔ Token)</a:t>
            </a:r>
          </a:p>
        </p:txBody>
      </p:sp>
      <p:pic>
        <p:nvPicPr>
          <p:cNvPr id="12" name="Picture 11" descr="slide5_flow_bandwid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2926080"/>
            <a:ext cx="5669280" cy="1417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35040" y="4343400"/>
            <a:ext cx="5669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850">
                <a:solidFill>
                  <a:srgbClr val="1A6FC4"/>
                </a:solidFill>
                <a:latin typeface="Liberation Sans"/>
              </a:defRPr>
            </a:pPr>
            <a:r>
              <a:t>TantraPacket Bandwidth Compression Benchmark (99.92% Saved)</a:t>
            </a:r>
          </a:p>
        </p:txBody>
      </p:sp>
      <p:pic>
        <p:nvPicPr>
          <p:cNvPr id="14" name="Picture 13" descr="slide5_flow_t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617720"/>
            <a:ext cx="5669280" cy="1417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0" y="6035040"/>
            <a:ext cx="5669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850">
                <a:solidFill>
                  <a:srgbClr val="1A6FC4"/>
                </a:solidFill>
                <a:latin typeface="Liberation Sans"/>
              </a:defRPr>
            </a:pPr>
            <a:r>
              <a:t>Piper VITS On-Device Neural Synthesis Flow (Token ➔ Speech)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